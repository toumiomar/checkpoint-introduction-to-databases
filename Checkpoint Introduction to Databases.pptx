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0"/>
  </p:notesMasterIdLst>
  <p:sldIdLst>
    <p:sldId id="256" r:id="rId2"/>
    <p:sldId id="272" r:id="rId3"/>
    <p:sldId id="296" r:id="rId4"/>
    <p:sldId id="295" r:id="rId5"/>
    <p:sldId id="297" r:id="rId6"/>
    <p:sldId id="299" r:id="rId7"/>
    <p:sldId id="298" r:id="rId8"/>
    <p:sldId id="301" r:id="rId9"/>
    <p:sldId id="302" r:id="rId10"/>
    <p:sldId id="303" r:id="rId11"/>
    <p:sldId id="304" r:id="rId12"/>
    <p:sldId id="306" r:id="rId13"/>
    <p:sldId id="308" r:id="rId14"/>
    <p:sldId id="310" r:id="rId15"/>
    <p:sldId id="311" r:id="rId16"/>
    <p:sldId id="312" r:id="rId17"/>
    <p:sldId id="313" r:id="rId18"/>
    <p:sldId id="314" r:id="rId19"/>
  </p:sldIdLst>
  <p:sldSz cx="9144000" cy="5143500" type="screen16x9"/>
  <p:notesSz cx="6858000" cy="9144000"/>
  <p:embeddedFontLst>
    <p:embeddedFont>
      <p:font typeface="Modern No. 20" pitchFamily="18" charset="0"/>
      <p:regular r:id="rId21"/>
    </p:embeddedFont>
    <p:embeddedFont>
      <p:font typeface="Montserrat" charset="0"/>
      <p:regular r:id="rId22"/>
      <p:bold r:id="rId23"/>
      <p:italic r:id="rId24"/>
      <p:boldItalic r:id="rId25"/>
    </p:embeddedFont>
    <p:embeddedFont>
      <p:font typeface="Montserrat Light" charset="0"/>
      <p:regular r:id="rId26"/>
      <p:bold r:id="rId27"/>
      <p:italic r:id="rId28"/>
      <p:boldItalic r:id="rId29"/>
    </p:embeddedFont>
    <p:embeddedFont>
      <p:font typeface="Montserrat ExtraBold" charset="0"/>
      <p:bold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1D373EE1-90F3-4FE0-9EEE-656C0F00654E}">
  <a:tblStyle styleId="{1D373EE1-90F3-4FE0-9EEE-656C0F00654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B0D5483-EFC2-4D69-8ADA-A6407E3F96A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2" d="100"/>
          <a:sy n="102" d="100"/>
        </p:scale>
        <p:origin x="-45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9687298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1495634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gradFill>
          <a:gsLst>
            <a:gs pos="0">
              <a:srgbClr val="3C78D8"/>
            </a:gs>
            <a:gs pos="100000">
              <a:srgbClr val="00FFFF"/>
            </a:gs>
          </a:gsLst>
          <a:lin ang="5400700" scaled="0"/>
        </a:grad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0" y="-26"/>
            <a:ext cx="9144000" cy="5143523"/>
          </a:xfrm>
          <a:prstGeom prst="rect">
            <a:avLst/>
          </a:prstGeom>
          <a:noFill/>
          <a:ln>
            <a:noFill/>
          </a:ln>
        </p:spPr>
      </p:pic>
      <p:sp>
        <p:nvSpPr>
          <p:cNvPr id="11" name="Google Shape;11;p2"/>
          <p:cNvSpPr txBox="1">
            <a:spLocks noGrp="1"/>
          </p:cNvSpPr>
          <p:nvPr>
            <p:ph type="ctrTitle"/>
          </p:nvPr>
        </p:nvSpPr>
        <p:spPr>
          <a:xfrm>
            <a:off x="2302050" y="1223200"/>
            <a:ext cx="4539900" cy="26970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bg>
      <p:bgPr>
        <a:gradFill>
          <a:gsLst>
            <a:gs pos="0">
              <a:srgbClr val="3C78D8"/>
            </a:gs>
            <a:gs pos="100000">
              <a:srgbClr val="00FFFF"/>
            </a:gs>
          </a:gsLst>
          <a:lin ang="5400700" scaled="0"/>
        </a:gradFill>
        <a:effectLst/>
      </p:bgPr>
    </p:bg>
    <p:spTree>
      <p:nvGrpSpPr>
        <p:cNvPr id="1" name="Shape 21"/>
        <p:cNvGrpSpPr/>
        <p:nvPr/>
      </p:nvGrpSpPr>
      <p:grpSpPr>
        <a:xfrm>
          <a:off x="0" y="0"/>
          <a:ext cx="0" cy="0"/>
          <a:chOff x="0" y="0"/>
          <a:chExt cx="0" cy="0"/>
        </a:xfrm>
      </p:grpSpPr>
      <p:pic>
        <p:nvPicPr>
          <p:cNvPr id="22" name="Google Shape;22;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699000" y="911700"/>
            <a:ext cx="2020800" cy="3327600"/>
          </a:xfrm>
          <a:prstGeom prst="rect">
            <a:avLst/>
          </a:prstGeom>
        </p:spPr>
        <p:txBody>
          <a:bodyPr spcFirstLastPara="1" wrap="square" lIns="0" tIns="0" rIns="0" bIns="0" anchor="ctr"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24" name="Google Shape;24;p5"/>
          <p:cNvSpPr txBox="1">
            <a:spLocks noGrp="1"/>
          </p:cNvSpPr>
          <p:nvPr>
            <p:ph type="body" idx="1"/>
          </p:nvPr>
        </p:nvSpPr>
        <p:spPr>
          <a:xfrm>
            <a:off x="3844325" y="805325"/>
            <a:ext cx="4842600" cy="3548100"/>
          </a:xfrm>
          <a:prstGeom prst="rect">
            <a:avLst/>
          </a:prstGeom>
        </p:spPr>
        <p:txBody>
          <a:bodyPr spcFirstLastPara="1" wrap="square" lIns="0" tIns="0" rIns="0" bIns="0" anchor="ctr" anchorCtr="0">
            <a:noAutofit/>
          </a:bodyPr>
          <a:lstStyle>
            <a:lvl1pPr marL="457200" lvl="0" indent="-368300">
              <a:spcBef>
                <a:spcPts val="600"/>
              </a:spcBef>
              <a:spcAft>
                <a:spcPts val="0"/>
              </a:spcAft>
              <a:buSzPts val="2200"/>
              <a:buChar char="◦"/>
              <a:defRPr/>
            </a:lvl1pPr>
            <a:lvl2pPr marL="914400" lvl="1" indent="-368300">
              <a:spcBef>
                <a:spcPts val="1000"/>
              </a:spcBef>
              <a:spcAft>
                <a:spcPts val="0"/>
              </a:spcAft>
              <a:buSzPts val="2200"/>
              <a:buChar char="◦"/>
              <a:defRPr/>
            </a:lvl2pPr>
            <a:lvl3pPr marL="1371600" lvl="2" indent="-368300">
              <a:spcBef>
                <a:spcPts val="1000"/>
              </a:spcBef>
              <a:spcAft>
                <a:spcPts val="0"/>
              </a:spcAft>
              <a:buSzPts val="2200"/>
              <a:buChar char="◦"/>
              <a:defRPr/>
            </a:lvl3pPr>
            <a:lvl4pPr marL="1828800" lvl="3" indent="-368300">
              <a:spcBef>
                <a:spcPts val="1000"/>
              </a:spcBef>
              <a:spcAft>
                <a:spcPts val="0"/>
              </a:spcAft>
              <a:buSzPts val="2200"/>
              <a:buChar char="◦"/>
              <a:defRPr/>
            </a:lvl4pPr>
            <a:lvl5pPr marL="2286000" lvl="4" indent="-368300">
              <a:spcBef>
                <a:spcPts val="1000"/>
              </a:spcBef>
              <a:spcAft>
                <a:spcPts val="0"/>
              </a:spcAft>
              <a:buSzPts val="2200"/>
              <a:buChar char="◦"/>
              <a:defRPr/>
            </a:lvl5pPr>
            <a:lvl6pPr marL="2743200" lvl="5" indent="-368300">
              <a:spcBef>
                <a:spcPts val="1000"/>
              </a:spcBef>
              <a:spcAft>
                <a:spcPts val="0"/>
              </a:spcAft>
              <a:buSzPts val="2200"/>
              <a:buChar char="◦"/>
              <a:defRPr/>
            </a:lvl6pPr>
            <a:lvl7pPr marL="3200400" lvl="6" indent="-368300">
              <a:spcBef>
                <a:spcPts val="1000"/>
              </a:spcBef>
              <a:spcAft>
                <a:spcPts val="0"/>
              </a:spcAft>
              <a:buSzPts val="2200"/>
              <a:buChar char="◦"/>
              <a:defRPr/>
            </a:lvl7pPr>
            <a:lvl8pPr marL="3657600" lvl="7" indent="-368300">
              <a:spcBef>
                <a:spcPts val="1000"/>
              </a:spcBef>
              <a:spcAft>
                <a:spcPts val="0"/>
              </a:spcAft>
              <a:buSzPts val="2200"/>
              <a:buChar char="◦"/>
              <a:defRPr/>
            </a:lvl8pPr>
            <a:lvl9pPr marL="4114800" lvl="8" indent="-368300">
              <a:spcBef>
                <a:spcPts val="1000"/>
              </a:spcBef>
              <a:spcAft>
                <a:spcPts val="1000"/>
              </a:spcAft>
              <a:buSzPts val="2200"/>
              <a:buChar char="◦"/>
              <a:defRPr/>
            </a:lvl9pPr>
          </a:lstStyle>
          <a:p>
            <a:endParaRPr/>
          </a:p>
        </p:txBody>
      </p:sp>
      <p:sp>
        <p:nvSpPr>
          <p:cNvPr id="25" name="Google Shape;25;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bg>
      <p:bgPr>
        <a:gradFill>
          <a:gsLst>
            <a:gs pos="0">
              <a:srgbClr val="46E180"/>
            </a:gs>
            <a:gs pos="100000">
              <a:srgbClr val="B8DF32"/>
            </a:gs>
          </a:gsLst>
          <a:lin ang="5400700" scaled="0"/>
        </a:gradFill>
        <a:effectLst/>
      </p:bgPr>
    </p:bg>
    <p:spTree>
      <p:nvGrpSpPr>
        <p:cNvPr id="1" name="Shape 31"/>
        <p:cNvGrpSpPr/>
        <p:nvPr/>
      </p:nvGrpSpPr>
      <p:grpSpPr>
        <a:xfrm>
          <a:off x="0" y="0"/>
          <a:ext cx="0" cy="0"/>
          <a:chOff x="0" y="0"/>
          <a:chExt cx="0" cy="0"/>
        </a:xfrm>
      </p:grpSpPr>
      <p:pic>
        <p:nvPicPr>
          <p:cNvPr id="32" name="Google Shape;32;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3" name="Google Shape;33;p7"/>
          <p:cNvSpPr txBox="1">
            <a:spLocks noGrp="1"/>
          </p:cNvSpPr>
          <p:nvPr>
            <p:ph type="title"/>
          </p:nvPr>
        </p:nvSpPr>
        <p:spPr>
          <a:xfrm>
            <a:off x="699000" y="911700"/>
            <a:ext cx="2020800" cy="3327600"/>
          </a:xfrm>
          <a:prstGeom prst="rect">
            <a:avLst/>
          </a:prstGeom>
        </p:spPr>
        <p:txBody>
          <a:bodyPr spcFirstLastPara="1" wrap="square" lIns="0" tIns="0" rIns="0" bIns="0" anchor="ctr"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34" name="Google Shape;34;p7"/>
          <p:cNvSpPr txBox="1">
            <a:spLocks noGrp="1"/>
          </p:cNvSpPr>
          <p:nvPr>
            <p:ph type="body" idx="1"/>
          </p:nvPr>
        </p:nvSpPr>
        <p:spPr>
          <a:xfrm>
            <a:off x="3844325" y="805325"/>
            <a:ext cx="2250300" cy="3540600"/>
          </a:xfrm>
          <a:prstGeom prst="rect">
            <a:avLst/>
          </a:prstGeom>
        </p:spPr>
        <p:txBody>
          <a:bodyPr spcFirstLastPara="1" wrap="square" lIns="0" tIns="0" rIns="0" bIns="0" anchor="ctr" anchorCtr="0">
            <a:noAutofit/>
          </a:bodyPr>
          <a:lstStyle>
            <a:lvl1pPr marL="457200" lvl="0" indent="-342900">
              <a:spcBef>
                <a:spcPts val="600"/>
              </a:spcBef>
              <a:spcAft>
                <a:spcPts val="0"/>
              </a:spcAft>
              <a:buSzPts val="1800"/>
              <a:buChar char="◦"/>
              <a:defRPr sz="1800"/>
            </a:lvl1pPr>
            <a:lvl2pPr marL="914400" lvl="1" indent="-342900">
              <a:spcBef>
                <a:spcPts val="1000"/>
              </a:spcBef>
              <a:spcAft>
                <a:spcPts val="0"/>
              </a:spcAft>
              <a:buSzPts val="1800"/>
              <a:buChar char="◦"/>
              <a:defRPr sz="1800"/>
            </a:lvl2pPr>
            <a:lvl3pPr marL="1371600" lvl="2" indent="-342900">
              <a:spcBef>
                <a:spcPts val="1000"/>
              </a:spcBef>
              <a:spcAft>
                <a:spcPts val="0"/>
              </a:spcAft>
              <a:buSzPts val="1800"/>
              <a:buChar char="◦"/>
              <a:defRPr sz="1800"/>
            </a:lvl3pPr>
            <a:lvl4pPr marL="1828800" lvl="3" indent="-342900">
              <a:spcBef>
                <a:spcPts val="1000"/>
              </a:spcBef>
              <a:spcAft>
                <a:spcPts val="0"/>
              </a:spcAft>
              <a:buSzPts val="1800"/>
              <a:buChar char="◦"/>
              <a:defRPr sz="1800"/>
            </a:lvl4pPr>
            <a:lvl5pPr marL="2286000" lvl="4" indent="-342900">
              <a:spcBef>
                <a:spcPts val="1000"/>
              </a:spcBef>
              <a:spcAft>
                <a:spcPts val="0"/>
              </a:spcAft>
              <a:buSzPts val="1800"/>
              <a:buChar char="◦"/>
              <a:defRPr sz="1800"/>
            </a:lvl5pPr>
            <a:lvl6pPr marL="2743200" lvl="5" indent="-342900">
              <a:spcBef>
                <a:spcPts val="1000"/>
              </a:spcBef>
              <a:spcAft>
                <a:spcPts val="0"/>
              </a:spcAft>
              <a:buSzPts val="1800"/>
              <a:buChar char="◦"/>
              <a:defRPr sz="1800"/>
            </a:lvl6pPr>
            <a:lvl7pPr marL="3200400" lvl="6" indent="-342900">
              <a:spcBef>
                <a:spcPts val="1000"/>
              </a:spcBef>
              <a:spcAft>
                <a:spcPts val="0"/>
              </a:spcAft>
              <a:buSzPts val="1800"/>
              <a:buChar char="◦"/>
              <a:defRPr sz="1800"/>
            </a:lvl7pPr>
            <a:lvl8pPr marL="3657600" lvl="7" indent="-342900">
              <a:spcBef>
                <a:spcPts val="1000"/>
              </a:spcBef>
              <a:spcAft>
                <a:spcPts val="0"/>
              </a:spcAft>
              <a:buSzPts val="1800"/>
              <a:buChar char="◦"/>
              <a:defRPr sz="1800"/>
            </a:lvl8pPr>
            <a:lvl9pPr marL="4114800" lvl="8" indent="-342900">
              <a:spcBef>
                <a:spcPts val="1000"/>
              </a:spcBef>
              <a:spcAft>
                <a:spcPts val="1000"/>
              </a:spcAft>
              <a:buSzPts val="1800"/>
              <a:buChar char="◦"/>
              <a:defRPr sz="1800"/>
            </a:lvl9pPr>
          </a:lstStyle>
          <a:p>
            <a:endParaRPr/>
          </a:p>
        </p:txBody>
      </p:sp>
      <p:sp>
        <p:nvSpPr>
          <p:cNvPr id="35" name="Google Shape;35;p7"/>
          <p:cNvSpPr txBox="1">
            <a:spLocks noGrp="1"/>
          </p:cNvSpPr>
          <p:nvPr>
            <p:ph type="body" idx="2"/>
          </p:nvPr>
        </p:nvSpPr>
        <p:spPr>
          <a:xfrm>
            <a:off x="6436624" y="805325"/>
            <a:ext cx="2250300" cy="3540600"/>
          </a:xfrm>
          <a:prstGeom prst="rect">
            <a:avLst/>
          </a:prstGeom>
        </p:spPr>
        <p:txBody>
          <a:bodyPr spcFirstLastPara="1" wrap="square" lIns="0" tIns="0" rIns="0" bIns="0" anchor="ctr" anchorCtr="0">
            <a:noAutofit/>
          </a:bodyPr>
          <a:lstStyle>
            <a:lvl1pPr marL="457200" lvl="0" indent="-342900">
              <a:spcBef>
                <a:spcPts val="600"/>
              </a:spcBef>
              <a:spcAft>
                <a:spcPts val="0"/>
              </a:spcAft>
              <a:buSzPts val="1800"/>
              <a:buChar char="◦"/>
              <a:defRPr sz="1800"/>
            </a:lvl1pPr>
            <a:lvl2pPr marL="914400" lvl="1" indent="-342900">
              <a:spcBef>
                <a:spcPts val="1000"/>
              </a:spcBef>
              <a:spcAft>
                <a:spcPts val="0"/>
              </a:spcAft>
              <a:buSzPts val="1800"/>
              <a:buChar char="◦"/>
              <a:defRPr sz="1800"/>
            </a:lvl2pPr>
            <a:lvl3pPr marL="1371600" lvl="2" indent="-342900">
              <a:spcBef>
                <a:spcPts val="1000"/>
              </a:spcBef>
              <a:spcAft>
                <a:spcPts val="0"/>
              </a:spcAft>
              <a:buSzPts val="1800"/>
              <a:buChar char="◦"/>
              <a:defRPr sz="1800"/>
            </a:lvl3pPr>
            <a:lvl4pPr marL="1828800" lvl="3" indent="-342900">
              <a:spcBef>
                <a:spcPts val="1000"/>
              </a:spcBef>
              <a:spcAft>
                <a:spcPts val="0"/>
              </a:spcAft>
              <a:buSzPts val="1800"/>
              <a:buChar char="◦"/>
              <a:defRPr sz="1800"/>
            </a:lvl4pPr>
            <a:lvl5pPr marL="2286000" lvl="4" indent="-342900">
              <a:spcBef>
                <a:spcPts val="1000"/>
              </a:spcBef>
              <a:spcAft>
                <a:spcPts val="0"/>
              </a:spcAft>
              <a:buSzPts val="1800"/>
              <a:buChar char="◦"/>
              <a:defRPr sz="1800"/>
            </a:lvl5pPr>
            <a:lvl6pPr marL="2743200" lvl="5" indent="-342900">
              <a:spcBef>
                <a:spcPts val="1000"/>
              </a:spcBef>
              <a:spcAft>
                <a:spcPts val="0"/>
              </a:spcAft>
              <a:buSzPts val="1800"/>
              <a:buChar char="◦"/>
              <a:defRPr sz="1800"/>
            </a:lvl6pPr>
            <a:lvl7pPr marL="3200400" lvl="6" indent="-342900">
              <a:spcBef>
                <a:spcPts val="1000"/>
              </a:spcBef>
              <a:spcAft>
                <a:spcPts val="0"/>
              </a:spcAft>
              <a:buSzPts val="1800"/>
              <a:buChar char="◦"/>
              <a:defRPr sz="1800"/>
            </a:lvl7pPr>
            <a:lvl8pPr marL="3657600" lvl="7" indent="-342900">
              <a:spcBef>
                <a:spcPts val="1000"/>
              </a:spcBef>
              <a:spcAft>
                <a:spcPts val="0"/>
              </a:spcAft>
              <a:buSzPts val="1800"/>
              <a:buChar char="◦"/>
              <a:defRPr sz="1800"/>
            </a:lvl8pPr>
            <a:lvl9pPr marL="4114800" lvl="8" indent="-342900">
              <a:spcBef>
                <a:spcPts val="1000"/>
              </a:spcBef>
              <a:spcAft>
                <a:spcPts val="1000"/>
              </a:spcAft>
              <a:buSzPts val="1800"/>
              <a:buChar char="◦"/>
              <a:defRPr sz="1800"/>
            </a:lvl9pPr>
          </a:lstStyle>
          <a:p>
            <a:endParaRPr/>
          </a:p>
        </p:txBody>
      </p:sp>
      <p:sp>
        <p:nvSpPr>
          <p:cNvPr id="36" name="Google Shape;36;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rgbClr val="FF8700"/>
            </a:gs>
            <a:gs pos="100000">
              <a:srgbClr val="FFD900"/>
            </a:gs>
          </a:gsLst>
          <a:lin ang="5400700" scaled="0"/>
        </a:gradFill>
        <a:effectLst/>
      </p:bgPr>
    </p:bg>
    <p:spTree>
      <p:nvGrpSpPr>
        <p:cNvPr id="1" name="Shape 44"/>
        <p:cNvGrpSpPr/>
        <p:nvPr/>
      </p:nvGrpSpPr>
      <p:grpSpPr>
        <a:xfrm>
          <a:off x="0" y="0"/>
          <a:ext cx="0" cy="0"/>
          <a:chOff x="0" y="0"/>
          <a:chExt cx="0" cy="0"/>
        </a:xfrm>
      </p:grpSpPr>
      <p:pic>
        <p:nvPicPr>
          <p:cNvPr id="45" name="Google Shape;45;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46" name="Google Shape;46;p9"/>
          <p:cNvSpPr txBox="1">
            <a:spLocks noGrp="1"/>
          </p:cNvSpPr>
          <p:nvPr>
            <p:ph type="title"/>
          </p:nvPr>
        </p:nvSpPr>
        <p:spPr>
          <a:xfrm>
            <a:off x="699000" y="911700"/>
            <a:ext cx="2020800" cy="3327600"/>
          </a:xfrm>
          <a:prstGeom prst="rect">
            <a:avLst/>
          </a:prstGeom>
        </p:spPr>
        <p:txBody>
          <a:bodyPr spcFirstLastPara="1" wrap="square" lIns="0" tIns="0" rIns="0" bIns="0" anchor="ctr"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47" name="Google Shape;47;p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bg>
      <p:bgPr>
        <a:gradFill>
          <a:gsLst>
            <a:gs pos="0">
              <a:srgbClr val="8790B9"/>
            </a:gs>
            <a:gs pos="100000">
              <a:srgbClr val="D4ECFF"/>
            </a:gs>
          </a:gsLst>
          <a:lin ang="5400700" scaled="0"/>
        </a:gradFill>
        <a:effectLst/>
      </p:bgPr>
    </p:bg>
    <p:spTree>
      <p:nvGrpSpPr>
        <p:cNvPr id="1" name="Shape 48"/>
        <p:cNvGrpSpPr/>
        <p:nvPr/>
      </p:nvGrpSpPr>
      <p:grpSpPr>
        <a:xfrm>
          <a:off x="0" y="0"/>
          <a:ext cx="0" cy="0"/>
          <a:chOff x="0" y="0"/>
          <a:chExt cx="0" cy="0"/>
        </a:xfrm>
      </p:grpSpPr>
      <p:pic>
        <p:nvPicPr>
          <p:cNvPr id="49" name="Google Shape;49;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50" name="Google Shape;50;p10"/>
          <p:cNvSpPr txBox="1">
            <a:spLocks noGrp="1"/>
          </p:cNvSpPr>
          <p:nvPr>
            <p:ph type="body" idx="1"/>
          </p:nvPr>
        </p:nvSpPr>
        <p:spPr>
          <a:xfrm>
            <a:off x="457200" y="534577"/>
            <a:ext cx="8229600" cy="393600"/>
          </a:xfrm>
          <a:prstGeom prst="rect">
            <a:avLst/>
          </a:prstGeom>
        </p:spPr>
        <p:txBody>
          <a:bodyPr spcFirstLastPara="1" wrap="square" lIns="0" tIns="0" rIns="0" bIns="0" anchor="ctr" anchorCtr="0">
            <a:noAutofit/>
          </a:bodyPr>
          <a:lstStyle>
            <a:lvl1pPr marL="457200" lvl="0" indent="-228600" algn="ctr">
              <a:spcBef>
                <a:spcPts val="360"/>
              </a:spcBef>
              <a:spcAft>
                <a:spcPts val="1000"/>
              </a:spcAft>
              <a:buClr>
                <a:schemeClr val="lt1"/>
              </a:buClr>
              <a:buSzPts val="1400"/>
              <a:buNone/>
              <a:defRPr sz="1400">
                <a:solidFill>
                  <a:schemeClr val="lt1"/>
                </a:solidFill>
              </a:defRPr>
            </a:lvl1pPr>
          </a:lstStyle>
          <a:p>
            <a:endParaRPr/>
          </a:p>
        </p:txBody>
      </p:sp>
      <p:sp>
        <p:nvSpPr>
          <p:cNvPr id="51" name="Google Shape;51;p1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gradFill>
          <a:gsLst>
            <a:gs pos="0">
              <a:srgbClr val="E61E7F"/>
            </a:gs>
            <a:gs pos="100000">
              <a:srgbClr val="FF9900"/>
            </a:gs>
          </a:gsLst>
          <a:lin ang="5400700" scaled="0"/>
        </a:gradFill>
        <a:effectLst/>
      </p:bgPr>
    </p:bg>
    <p:spTree>
      <p:nvGrpSpPr>
        <p:cNvPr id="1" name="Shape 52"/>
        <p:cNvGrpSpPr/>
        <p:nvPr/>
      </p:nvGrpSpPr>
      <p:grpSpPr>
        <a:xfrm>
          <a:off x="0" y="0"/>
          <a:ext cx="0" cy="0"/>
          <a:chOff x="0" y="0"/>
          <a:chExt cx="0" cy="0"/>
        </a:xfrm>
      </p:grpSpPr>
      <p:sp>
        <p:nvSpPr>
          <p:cNvPr id="53" name="Google Shape;53;p1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pic>
        <p:nvPicPr>
          <p:cNvPr id="54" name="Google Shape;54;p11"/>
          <p:cNvPicPr preferRelativeResize="0"/>
          <p:nvPr/>
        </p:nvPicPr>
        <p:blipFill>
          <a:blip r:embed="rId2">
            <a:alphaModFix/>
          </a:blip>
          <a:stretch>
            <a:fillRect/>
          </a:stretch>
        </p:blipFill>
        <p:spPr>
          <a:xfrm>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rgbClr val="3C78D8"/>
            </a:gs>
            <a:gs pos="100000">
              <a:srgbClr val="00FFFF"/>
            </a:gs>
          </a:gsLst>
          <a:lin ang="540070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99000" y="911700"/>
            <a:ext cx="2020800" cy="3327600"/>
          </a:xfrm>
          <a:prstGeom prst="rect">
            <a:avLst/>
          </a:prstGeom>
          <a:noFill/>
          <a:ln>
            <a:noFill/>
          </a:ln>
          <a:effectLst>
            <a:outerShdw blurRad="42863" dist="9525" dir="5400000" algn="bl" rotWithShape="0">
              <a:srgbClr val="000000">
                <a:alpha val="20000"/>
              </a:srgbClr>
            </a:outerShdw>
          </a:effectLst>
        </p:spPr>
        <p:txBody>
          <a:bodyPr spcFirstLastPara="1" wrap="square" lIns="0" tIns="0" rIns="0" bIns="0" anchor="ctr" anchorCtr="0">
            <a:noAutofit/>
          </a:bodyPr>
          <a:lstStyle>
            <a:lvl1pPr lvl="0">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2pPr>
            <a:lvl3pPr lvl="2">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3pPr>
            <a:lvl4pPr lvl="3">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4pPr>
            <a:lvl5pPr lvl="4">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5pPr>
            <a:lvl6pPr lvl="5">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6pPr>
            <a:lvl7pPr lvl="6">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7pPr>
            <a:lvl8pPr lvl="7">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8pPr>
            <a:lvl9pPr lvl="8">
              <a:spcBef>
                <a:spcPts val="0"/>
              </a:spcBef>
              <a:spcAft>
                <a:spcPts val="0"/>
              </a:spcAft>
              <a:buClr>
                <a:schemeClr val="lt1"/>
              </a:buClr>
              <a:buSzPts val="2600"/>
              <a:buFont typeface="Montserrat ExtraBold"/>
              <a:buNone/>
              <a:defRPr sz="2600">
                <a:solidFill>
                  <a:schemeClr val="lt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3844325" y="805325"/>
            <a:ext cx="4842600" cy="3548100"/>
          </a:xfrm>
          <a:prstGeom prst="rect">
            <a:avLst/>
          </a:prstGeom>
          <a:noFill/>
          <a:ln>
            <a:noFill/>
          </a:ln>
        </p:spPr>
        <p:txBody>
          <a:bodyPr spcFirstLastPara="1" wrap="square" lIns="0" tIns="0" rIns="0" bIns="0" anchor="ctr" anchorCtr="0">
            <a:noAutofit/>
          </a:bodyPr>
          <a:lstStyle>
            <a:lvl1pPr marL="457200" lvl="0" indent="-368300">
              <a:lnSpc>
                <a:spcPct val="115000"/>
              </a:lnSpc>
              <a:spcBef>
                <a:spcPts val="600"/>
              </a:spcBef>
              <a:spcAft>
                <a:spcPts val="0"/>
              </a:spcAft>
              <a:buClr>
                <a:schemeClr val="dk2"/>
              </a:buClr>
              <a:buSzPts val="2200"/>
              <a:buFont typeface="Montserrat Light"/>
              <a:buChar char="◦"/>
              <a:defRPr sz="2200">
                <a:solidFill>
                  <a:schemeClr val="dk1"/>
                </a:solidFill>
                <a:latin typeface="Montserrat Light"/>
                <a:ea typeface="Montserrat Light"/>
                <a:cs typeface="Montserrat Light"/>
                <a:sym typeface="Montserrat Light"/>
              </a:defRPr>
            </a:lvl1pPr>
            <a:lvl2pPr marL="914400" lvl="1" indent="-368300">
              <a:lnSpc>
                <a:spcPct val="115000"/>
              </a:lnSpc>
              <a:spcBef>
                <a:spcPts val="1000"/>
              </a:spcBef>
              <a:spcAft>
                <a:spcPts val="0"/>
              </a:spcAft>
              <a:buClr>
                <a:schemeClr val="dk2"/>
              </a:buClr>
              <a:buSzPts val="2200"/>
              <a:buFont typeface="Montserrat Light"/>
              <a:buChar char="◦"/>
              <a:defRPr sz="2200">
                <a:solidFill>
                  <a:schemeClr val="dk1"/>
                </a:solidFill>
                <a:latin typeface="Montserrat Light"/>
                <a:ea typeface="Montserrat Light"/>
                <a:cs typeface="Montserrat Light"/>
                <a:sym typeface="Montserrat Light"/>
              </a:defRPr>
            </a:lvl2pPr>
            <a:lvl3pPr marL="1371600" lvl="2" indent="-368300">
              <a:lnSpc>
                <a:spcPct val="115000"/>
              </a:lnSpc>
              <a:spcBef>
                <a:spcPts val="1000"/>
              </a:spcBef>
              <a:spcAft>
                <a:spcPts val="0"/>
              </a:spcAft>
              <a:buClr>
                <a:schemeClr val="dk2"/>
              </a:buClr>
              <a:buSzPts val="2200"/>
              <a:buFont typeface="Montserrat Light"/>
              <a:buChar char="◦"/>
              <a:defRPr sz="2200">
                <a:solidFill>
                  <a:schemeClr val="dk1"/>
                </a:solidFill>
                <a:latin typeface="Montserrat Light"/>
                <a:ea typeface="Montserrat Light"/>
                <a:cs typeface="Montserrat Light"/>
                <a:sym typeface="Montserrat Light"/>
              </a:defRPr>
            </a:lvl3pPr>
            <a:lvl4pPr marL="1828800" lvl="3" indent="-368300">
              <a:lnSpc>
                <a:spcPct val="115000"/>
              </a:lnSpc>
              <a:spcBef>
                <a:spcPts val="1000"/>
              </a:spcBef>
              <a:spcAft>
                <a:spcPts val="0"/>
              </a:spcAft>
              <a:buClr>
                <a:schemeClr val="dk1"/>
              </a:buClr>
              <a:buSzPts val="2200"/>
              <a:buFont typeface="Montserrat Light"/>
              <a:buChar char="◦"/>
              <a:defRPr sz="2200">
                <a:solidFill>
                  <a:schemeClr val="dk1"/>
                </a:solidFill>
                <a:latin typeface="Montserrat Light"/>
                <a:ea typeface="Montserrat Light"/>
                <a:cs typeface="Montserrat Light"/>
                <a:sym typeface="Montserrat Light"/>
              </a:defRPr>
            </a:lvl4pPr>
            <a:lvl5pPr marL="2286000" lvl="4" indent="-368300">
              <a:lnSpc>
                <a:spcPct val="115000"/>
              </a:lnSpc>
              <a:spcBef>
                <a:spcPts val="1000"/>
              </a:spcBef>
              <a:spcAft>
                <a:spcPts val="0"/>
              </a:spcAft>
              <a:buClr>
                <a:schemeClr val="dk1"/>
              </a:buClr>
              <a:buSzPts val="2200"/>
              <a:buFont typeface="Montserrat Light"/>
              <a:buChar char="◦"/>
              <a:defRPr sz="2200">
                <a:solidFill>
                  <a:schemeClr val="dk1"/>
                </a:solidFill>
                <a:latin typeface="Montserrat Light"/>
                <a:ea typeface="Montserrat Light"/>
                <a:cs typeface="Montserrat Light"/>
                <a:sym typeface="Montserrat Light"/>
              </a:defRPr>
            </a:lvl5pPr>
            <a:lvl6pPr marL="2743200" lvl="5" indent="-368300">
              <a:lnSpc>
                <a:spcPct val="115000"/>
              </a:lnSpc>
              <a:spcBef>
                <a:spcPts val="1000"/>
              </a:spcBef>
              <a:spcAft>
                <a:spcPts val="0"/>
              </a:spcAft>
              <a:buClr>
                <a:schemeClr val="dk1"/>
              </a:buClr>
              <a:buSzPts val="2200"/>
              <a:buFont typeface="Montserrat Light"/>
              <a:buChar char="◦"/>
              <a:defRPr sz="2200">
                <a:solidFill>
                  <a:schemeClr val="dk1"/>
                </a:solidFill>
                <a:latin typeface="Montserrat Light"/>
                <a:ea typeface="Montserrat Light"/>
                <a:cs typeface="Montserrat Light"/>
                <a:sym typeface="Montserrat Light"/>
              </a:defRPr>
            </a:lvl6pPr>
            <a:lvl7pPr marL="3200400" lvl="6" indent="-368300">
              <a:lnSpc>
                <a:spcPct val="115000"/>
              </a:lnSpc>
              <a:spcBef>
                <a:spcPts val="1000"/>
              </a:spcBef>
              <a:spcAft>
                <a:spcPts val="0"/>
              </a:spcAft>
              <a:buClr>
                <a:schemeClr val="dk1"/>
              </a:buClr>
              <a:buSzPts val="2200"/>
              <a:buFont typeface="Montserrat Light"/>
              <a:buChar char="◦"/>
              <a:defRPr sz="2200">
                <a:solidFill>
                  <a:schemeClr val="dk1"/>
                </a:solidFill>
                <a:latin typeface="Montserrat Light"/>
                <a:ea typeface="Montserrat Light"/>
                <a:cs typeface="Montserrat Light"/>
                <a:sym typeface="Montserrat Light"/>
              </a:defRPr>
            </a:lvl7pPr>
            <a:lvl8pPr marL="3657600" lvl="7" indent="-368300">
              <a:lnSpc>
                <a:spcPct val="115000"/>
              </a:lnSpc>
              <a:spcBef>
                <a:spcPts val="1000"/>
              </a:spcBef>
              <a:spcAft>
                <a:spcPts val="0"/>
              </a:spcAft>
              <a:buClr>
                <a:schemeClr val="dk1"/>
              </a:buClr>
              <a:buSzPts val="2200"/>
              <a:buFont typeface="Montserrat Light"/>
              <a:buChar char="◦"/>
              <a:defRPr sz="2200">
                <a:solidFill>
                  <a:schemeClr val="dk1"/>
                </a:solidFill>
                <a:latin typeface="Montserrat Light"/>
                <a:ea typeface="Montserrat Light"/>
                <a:cs typeface="Montserrat Light"/>
                <a:sym typeface="Montserrat Light"/>
              </a:defRPr>
            </a:lvl8pPr>
            <a:lvl9pPr marL="4114800" lvl="8" indent="-368300">
              <a:lnSpc>
                <a:spcPct val="115000"/>
              </a:lnSpc>
              <a:spcBef>
                <a:spcPts val="1000"/>
              </a:spcBef>
              <a:spcAft>
                <a:spcPts val="1000"/>
              </a:spcAft>
              <a:buClr>
                <a:schemeClr val="dk1"/>
              </a:buClr>
              <a:buSzPts val="2200"/>
              <a:buFont typeface="Montserrat Light"/>
              <a:buChar char="◦"/>
              <a:defRPr sz="2200">
                <a:solidFill>
                  <a:schemeClr val="dk1"/>
                </a:solidFill>
                <a:latin typeface="Montserrat Light"/>
                <a:ea typeface="Montserrat Light"/>
                <a:cs typeface="Montserrat Light"/>
                <a:sym typeface="Montserrat Light"/>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a:buNone/>
              <a:defRPr sz="1200">
                <a:solidFill>
                  <a:schemeClr val="dk2"/>
                </a:solidFill>
                <a:latin typeface="Montserrat Light"/>
                <a:ea typeface="Montserrat Light"/>
                <a:cs typeface="Montserrat Light"/>
                <a:sym typeface="Montserrat Light"/>
              </a:defRPr>
            </a:lvl1pPr>
            <a:lvl2pPr lvl="1" algn="r">
              <a:buNone/>
              <a:defRPr sz="1200">
                <a:solidFill>
                  <a:schemeClr val="dk2"/>
                </a:solidFill>
                <a:latin typeface="Montserrat Light"/>
                <a:ea typeface="Montserrat Light"/>
                <a:cs typeface="Montserrat Light"/>
                <a:sym typeface="Montserrat Light"/>
              </a:defRPr>
            </a:lvl2pPr>
            <a:lvl3pPr lvl="2" algn="r">
              <a:buNone/>
              <a:defRPr sz="1200">
                <a:solidFill>
                  <a:schemeClr val="dk2"/>
                </a:solidFill>
                <a:latin typeface="Montserrat Light"/>
                <a:ea typeface="Montserrat Light"/>
                <a:cs typeface="Montserrat Light"/>
                <a:sym typeface="Montserrat Light"/>
              </a:defRPr>
            </a:lvl3pPr>
            <a:lvl4pPr lvl="3" algn="r">
              <a:buNone/>
              <a:defRPr sz="1200">
                <a:solidFill>
                  <a:schemeClr val="dk2"/>
                </a:solidFill>
                <a:latin typeface="Montserrat Light"/>
                <a:ea typeface="Montserrat Light"/>
                <a:cs typeface="Montserrat Light"/>
                <a:sym typeface="Montserrat Light"/>
              </a:defRPr>
            </a:lvl4pPr>
            <a:lvl5pPr lvl="4" algn="r">
              <a:buNone/>
              <a:defRPr sz="1200">
                <a:solidFill>
                  <a:schemeClr val="dk2"/>
                </a:solidFill>
                <a:latin typeface="Montserrat Light"/>
                <a:ea typeface="Montserrat Light"/>
                <a:cs typeface="Montserrat Light"/>
                <a:sym typeface="Montserrat Light"/>
              </a:defRPr>
            </a:lvl5pPr>
            <a:lvl6pPr lvl="5" algn="r">
              <a:buNone/>
              <a:defRPr sz="1200">
                <a:solidFill>
                  <a:schemeClr val="dk2"/>
                </a:solidFill>
                <a:latin typeface="Montserrat Light"/>
                <a:ea typeface="Montserrat Light"/>
                <a:cs typeface="Montserrat Light"/>
                <a:sym typeface="Montserrat Light"/>
              </a:defRPr>
            </a:lvl6pPr>
            <a:lvl7pPr lvl="6" algn="r">
              <a:buNone/>
              <a:defRPr sz="1200">
                <a:solidFill>
                  <a:schemeClr val="dk2"/>
                </a:solidFill>
                <a:latin typeface="Montserrat Light"/>
                <a:ea typeface="Montserrat Light"/>
                <a:cs typeface="Montserrat Light"/>
                <a:sym typeface="Montserrat Light"/>
              </a:defRPr>
            </a:lvl7pPr>
            <a:lvl8pPr lvl="7" algn="r">
              <a:buNone/>
              <a:defRPr sz="1200">
                <a:solidFill>
                  <a:schemeClr val="dk2"/>
                </a:solidFill>
                <a:latin typeface="Montserrat Light"/>
                <a:ea typeface="Montserrat Light"/>
                <a:cs typeface="Montserrat Light"/>
                <a:sym typeface="Montserrat Light"/>
              </a:defRPr>
            </a:lvl8pPr>
            <a:lvl9pPr lvl="8" algn="r">
              <a:buNone/>
              <a:defRPr sz="1200">
                <a:solidFill>
                  <a:schemeClr val="dk2"/>
                </a:solidFill>
                <a:latin typeface="Montserrat Light"/>
                <a:ea typeface="Montserrat Light"/>
                <a:cs typeface="Montserrat Light"/>
                <a:sym typeface="Montserrat Light"/>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5" r:id="rId4"/>
    <p:sldLayoutId id="2147483656" r:id="rId5"/>
    <p:sldLayoutId id="2147483657"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302050" y="1223200"/>
            <a:ext cx="4539900" cy="2697000"/>
          </a:xfrm>
          <a:prstGeom prst="rect">
            <a:avLst/>
          </a:prstGeom>
        </p:spPr>
        <p:txBody>
          <a:bodyPr spcFirstLastPara="1" wrap="square" lIns="0" tIns="0" rIns="0" bIns="0" anchor="ctr" anchorCtr="0">
            <a:noAutofit/>
          </a:bodyPr>
          <a:lstStyle/>
          <a:p>
            <a:pPr lvl="0"/>
            <a:r>
              <a:rPr lang="en" dirty="0" smtClean="0"/>
              <a:t>Checkpoint </a:t>
            </a:r>
            <a:r>
              <a:rPr lang="fr-FR" dirty="0"/>
              <a:t>Introduction to </a:t>
            </a:r>
            <a:r>
              <a:rPr lang="fr-FR" dirty="0" err="1" smtClean="0"/>
              <a:t>Databases</a:t>
            </a:r>
            <a:endParaRPr dirty="0"/>
          </a:p>
        </p:txBody>
      </p:sp>
      <p:sp>
        <p:nvSpPr>
          <p:cNvPr id="2" name="ZoneTexte 1"/>
          <p:cNvSpPr txBox="1"/>
          <p:nvPr/>
        </p:nvSpPr>
        <p:spPr>
          <a:xfrm>
            <a:off x="395536" y="195486"/>
            <a:ext cx="2016224" cy="400110"/>
          </a:xfrm>
          <a:prstGeom prst="rect">
            <a:avLst/>
          </a:prstGeom>
          <a:noFill/>
        </p:spPr>
        <p:txBody>
          <a:bodyPr wrap="square" rtlCol="0">
            <a:spAutoFit/>
          </a:bodyPr>
          <a:lstStyle/>
          <a:p>
            <a:r>
              <a:rPr lang="fr-FR" sz="2000" dirty="0" smtClean="0"/>
              <a:t>TOUMI OMAR</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F8700"/>
            </a:gs>
            <a:gs pos="100000">
              <a:srgbClr val="FFD900"/>
            </a:gs>
          </a:gsLst>
          <a:lin ang="5400700" scaled="0"/>
        </a:gradFill>
        <a:effectLst/>
      </p:bgPr>
    </p:bg>
    <p:spTree>
      <p:nvGrpSpPr>
        <p:cNvPr id="1" name="Shape 207"/>
        <p:cNvGrpSpPr/>
        <p:nvPr/>
      </p:nvGrpSpPr>
      <p:grpSpPr>
        <a:xfrm>
          <a:off x="0" y="0"/>
          <a:ext cx="0" cy="0"/>
          <a:chOff x="0" y="0"/>
          <a:chExt cx="0" cy="0"/>
        </a:xfrm>
      </p:grpSpPr>
      <p:sp>
        <p:nvSpPr>
          <p:cNvPr id="208" name="Google Shape;208;p29"/>
          <p:cNvSpPr txBox="1">
            <a:spLocks noGrp="1"/>
          </p:cNvSpPr>
          <p:nvPr>
            <p:ph type="title"/>
          </p:nvPr>
        </p:nvSpPr>
        <p:spPr>
          <a:xfrm>
            <a:off x="699000" y="911700"/>
            <a:ext cx="2020800" cy="332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smtClean="0"/>
              <a:t>PLan</a:t>
            </a:r>
            <a:endParaRPr dirty="0"/>
          </a:p>
        </p:txBody>
      </p:sp>
      <p:sp>
        <p:nvSpPr>
          <p:cNvPr id="209" name="Google Shape;209;p2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a:p>
        </p:txBody>
      </p:sp>
      <p:grpSp>
        <p:nvGrpSpPr>
          <p:cNvPr id="210" name="Google Shape;210;p29"/>
          <p:cNvGrpSpPr/>
          <p:nvPr/>
        </p:nvGrpSpPr>
        <p:grpSpPr>
          <a:xfrm>
            <a:off x="2805149" y="2131954"/>
            <a:ext cx="3597810" cy="1447539"/>
            <a:chOff x="1047099" y="2131954"/>
            <a:chExt cx="3597810" cy="1447539"/>
          </a:xfrm>
        </p:grpSpPr>
        <p:sp>
          <p:nvSpPr>
            <p:cNvPr id="211" name="Google Shape;211;p29"/>
            <p:cNvSpPr/>
            <p:nvPr/>
          </p:nvSpPr>
          <p:spPr>
            <a:xfrm rot="2700000">
              <a:off x="2286374" y="1011412"/>
              <a:ext cx="561726" cy="3040276"/>
            </a:xfrm>
            <a:prstGeom prst="roundRect">
              <a:avLst>
                <a:gd name="adj" fmla="val 50000"/>
              </a:avLst>
            </a:prstGeom>
            <a:gradFill>
              <a:gsLst>
                <a:gs pos="0">
                  <a:srgbClr val="FF8700"/>
                </a:gs>
                <a:gs pos="100000">
                  <a:srgbClr val="FFD900"/>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9"/>
            <p:cNvSpPr/>
            <p:nvPr/>
          </p:nvSpPr>
          <p:spPr>
            <a:xfrm>
              <a:off x="1510752" y="3205393"/>
              <a:ext cx="374100" cy="374100"/>
            </a:xfrm>
            <a:prstGeom prst="ellipse">
              <a:avLst/>
            </a:prstGeom>
            <a:solidFill>
              <a:srgbClr val="FFFFFF"/>
            </a:solidFill>
            <a:ln>
              <a:noFill/>
            </a:ln>
            <a:effectLst>
              <a:outerShdw blurRad="228600" dist="50800" dir="5400000" algn="tl" rotWithShape="0">
                <a:srgbClr val="000000">
                  <a:alpha val="549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666666"/>
                  </a:solidFill>
                  <a:latin typeface="Montserrat ExtraBold"/>
                  <a:ea typeface="Montserrat ExtraBold"/>
                  <a:cs typeface="Montserrat ExtraBold"/>
                  <a:sym typeface="Montserrat ExtraBold"/>
                </a:rPr>
                <a:t>1</a:t>
              </a:r>
              <a:endParaRPr sz="1200">
                <a:solidFill>
                  <a:srgbClr val="666666"/>
                </a:solidFill>
                <a:latin typeface="Montserrat ExtraBold"/>
                <a:ea typeface="Montserrat ExtraBold"/>
                <a:cs typeface="Montserrat ExtraBold"/>
                <a:sym typeface="Montserrat ExtraBold"/>
              </a:endParaRPr>
            </a:p>
          </p:txBody>
        </p:sp>
        <p:sp>
          <p:nvSpPr>
            <p:cNvPr id="213" name="Google Shape;213;p29"/>
            <p:cNvSpPr txBox="1"/>
            <p:nvPr/>
          </p:nvSpPr>
          <p:spPr>
            <a:xfrm rot="18900000">
              <a:off x="1456083" y="2131954"/>
              <a:ext cx="2642030" cy="393293"/>
            </a:xfrm>
            <a:prstGeom prst="rect">
              <a:avLst/>
            </a:prstGeom>
            <a:noFill/>
            <a:ln>
              <a:noFill/>
            </a:ln>
          </p:spPr>
          <p:txBody>
            <a:bodyPr spcFirstLastPara="1" wrap="square" lIns="91425" tIns="91425" rIns="91425" bIns="91425" anchor="ctr" anchorCtr="0">
              <a:noAutofit/>
            </a:bodyPr>
            <a:lstStyle/>
            <a:p>
              <a:pPr lvl="0">
                <a:lnSpc>
                  <a:spcPct val="115000"/>
                </a:lnSpc>
              </a:pPr>
              <a:r>
                <a:rPr lang="en-US" sz="1100" dirty="0">
                  <a:solidFill>
                    <a:srgbClr val="FFFFFF"/>
                  </a:solidFill>
                  <a:latin typeface="Montserrat ExtraBold"/>
                  <a:ea typeface="Montserrat ExtraBold"/>
                  <a:cs typeface="Montserrat ExtraBold"/>
                  <a:sym typeface="Montserrat ExtraBold"/>
                </a:rPr>
                <a:t>What is a Relational Database Management System?</a:t>
              </a:r>
              <a:endParaRPr sz="1100" dirty="0">
                <a:solidFill>
                  <a:srgbClr val="FFFFFF"/>
                </a:solidFill>
                <a:latin typeface="Montserrat ExtraBold"/>
                <a:ea typeface="Montserrat ExtraBold"/>
                <a:cs typeface="Montserrat ExtraBold"/>
                <a:sym typeface="Montserrat ExtraBold"/>
              </a:endParaRPr>
            </a:p>
          </p:txBody>
        </p:sp>
        <p:sp>
          <p:nvSpPr>
            <p:cNvPr id="214" name="Google Shape;214;p29"/>
            <p:cNvSpPr txBox="1"/>
            <p:nvPr/>
          </p:nvSpPr>
          <p:spPr>
            <a:xfrm rot="18900000">
              <a:off x="1877084" y="2351223"/>
              <a:ext cx="2767825" cy="507420"/>
            </a:xfrm>
            <a:prstGeom prst="rect">
              <a:avLst/>
            </a:prstGeom>
            <a:noFill/>
            <a:ln>
              <a:noFill/>
            </a:ln>
          </p:spPr>
          <p:txBody>
            <a:bodyPr spcFirstLastPara="1" wrap="square" lIns="91425" tIns="91425" rIns="91425" bIns="91425" anchor="t" anchorCtr="0">
              <a:noAutofit/>
            </a:bodyPr>
            <a:lstStyle/>
            <a:p>
              <a:pPr lvl="0">
                <a:spcAft>
                  <a:spcPts val="1600"/>
                </a:spcAft>
              </a:pPr>
              <a:r>
                <a:rPr lang="en-US" sz="800" dirty="0">
                  <a:solidFill>
                    <a:srgbClr val="666666"/>
                  </a:solidFill>
                  <a:latin typeface="Montserrat"/>
                  <a:ea typeface="Montserrat"/>
                  <a:cs typeface="Montserrat"/>
                  <a:sym typeface="Montserrat"/>
                </a:rPr>
                <a:t>What is a </a:t>
              </a:r>
              <a:r>
                <a:rPr lang="en-US" sz="800" dirty="0" smtClean="0">
                  <a:solidFill>
                    <a:srgbClr val="666666"/>
                  </a:solidFill>
                  <a:latin typeface="Montserrat"/>
                  <a:ea typeface="Montserrat"/>
                  <a:cs typeface="Montserrat"/>
                  <a:sym typeface="Montserrat"/>
                </a:rPr>
                <a:t>Database?/What </a:t>
              </a:r>
              <a:r>
                <a:rPr lang="en-US" sz="800" dirty="0">
                  <a:solidFill>
                    <a:srgbClr val="666666"/>
                  </a:solidFill>
                  <a:latin typeface="Montserrat"/>
                  <a:ea typeface="Montserrat"/>
                  <a:cs typeface="Montserrat"/>
                  <a:sym typeface="Montserrat"/>
                </a:rPr>
                <a:t>is a Relational </a:t>
              </a:r>
              <a:r>
                <a:rPr lang="en-US" sz="800" dirty="0" smtClean="0">
                  <a:solidFill>
                    <a:srgbClr val="666666"/>
                  </a:solidFill>
                  <a:latin typeface="Montserrat"/>
                  <a:ea typeface="Montserrat"/>
                  <a:cs typeface="Montserrat"/>
                  <a:sym typeface="Montserrat"/>
                </a:rPr>
                <a:t>Database?/What </a:t>
              </a:r>
              <a:r>
                <a:rPr lang="en-US" sz="800" dirty="0">
                  <a:solidFill>
                    <a:srgbClr val="666666"/>
                  </a:solidFill>
                  <a:latin typeface="Montserrat"/>
                  <a:ea typeface="Montserrat"/>
                  <a:cs typeface="Montserrat"/>
                  <a:sym typeface="Montserrat"/>
                </a:rPr>
                <a:t>is a Relational </a:t>
              </a:r>
              <a:r>
                <a:rPr lang="en-US" sz="800" dirty="0" smtClean="0">
                  <a:solidFill>
                    <a:srgbClr val="666666"/>
                  </a:solidFill>
                  <a:latin typeface="Montserrat"/>
                  <a:ea typeface="Montserrat"/>
                  <a:cs typeface="Montserrat"/>
                  <a:sym typeface="Montserrat"/>
                </a:rPr>
                <a:t>Database </a:t>
              </a:r>
              <a:r>
                <a:rPr lang="en-US" sz="800" dirty="0" err="1" smtClean="0">
                  <a:solidFill>
                    <a:srgbClr val="666666"/>
                  </a:solidFill>
                  <a:latin typeface="Montserrat"/>
                  <a:ea typeface="Montserrat"/>
                  <a:cs typeface="Montserrat"/>
                  <a:sym typeface="Montserrat"/>
                </a:rPr>
                <a:t>ManagementSystem</a:t>
              </a:r>
              <a:r>
                <a:rPr lang="en-US" sz="800" dirty="0" smtClean="0">
                  <a:solidFill>
                    <a:srgbClr val="666666"/>
                  </a:solidFill>
                  <a:latin typeface="Montserrat"/>
                  <a:ea typeface="Montserrat"/>
                  <a:cs typeface="Montserrat"/>
                  <a:sym typeface="Montserrat"/>
                </a:rPr>
                <a:t> </a:t>
              </a:r>
              <a:r>
                <a:rPr lang="en-US" sz="800" dirty="0">
                  <a:solidFill>
                    <a:srgbClr val="666666"/>
                  </a:solidFill>
                  <a:latin typeface="Montserrat"/>
                  <a:ea typeface="Montserrat"/>
                  <a:cs typeface="Montserrat"/>
                  <a:sym typeface="Montserrat"/>
                </a:rPr>
                <a:t>(RDBMS</a:t>
              </a:r>
              <a:r>
                <a:rPr lang="en-US" sz="800" dirty="0" smtClean="0">
                  <a:solidFill>
                    <a:srgbClr val="666666"/>
                  </a:solidFill>
                  <a:latin typeface="Montserrat"/>
                  <a:ea typeface="Montserrat"/>
                  <a:cs typeface="Montserrat"/>
                  <a:sym typeface="Montserrat"/>
                </a:rPr>
                <a:t>)?/What </a:t>
              </a:r>
              <a:r>
                <a:rPr lang="en-US" sz="800" dirty="0">
                  <a:solidFill>
                    <a:srgbClr val="666666"/>
                  </a:solidFill>
                  <a:latin typeface="Montserrat"/>
                  <a:ea typeface="Montserrat"/>
                  <a:cs typeface="Montserrat"/>
                  <a:sym typeface="Montserrat"/>
                </a:rPr>
                <a:t>is SQL?</a:t>
              </a:r>
              <a:endParaRPr sz="800" b="1" dirty="0">
                <a:solidFill>
                  <a:srgbClr val="666666"/>
                </a:solidFill>
                <a:latin typeface="Montserrat"/>
                <a:ea typeface="Montserrat"/>
                <a:cs typeface="Montserrat"/>
                <a:sym typeface="Montserrat"/>
              </a:endParaRPr>
            </a:p>
          </p:txBody>
        </p:sp>
      </p:grpSp>
      <p:grpSp>
        <p:nvGrpSpPr>
          <p:cNvPr id="215" name="Google Shape;215;p29"/>
          <p:cNvGrpSpPr/>
          <p:nvPr/>
        </p:nvGrpSpPr>
        <p:grpSpPr>
          <a:xfrm>
            <a:off x="4486770" y="2240903"/>
            <a:ext cx="3116239" cy="1338590"/>
            <a:chOff x="2957320" y="2240903"/>
            <a:chExt cx="3116239" cy="1338590"/>
          </a:xfrm>
        </p:grpSpPr>
        <p:sp>
          <p:nvSpPr>
            <p:cNvPr id="216" name="Google Shape;216;p29"/>
            <p:cNvSpPr/>
            <p:nvPr/>
          </p:nvSpPr>
          <p:spPr>
            <a:xfrm rot="2700000">
              <a:off x="4196595" y="1011412"/>
              <a:ext cx="561726" cy="3040276"/>
            </a:xfrm>
            <a:prstGeom prst="roundRect">
              <a:avLst>
                <a:gd name="adj" fmla="val 50000"/>
              </a:avLst>
            </a:prstGeom>
            <a:gradFill>
              <a:gsLst>
                <a:gs pos="0">
                  <a:srgbClr val="46E180"/>
                </a:gs>
                <a:gs pos="100000">
                  <a:srgbClr val="B8DF3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9"/>
            <p:cNvSpPr/>
            <p:nvPr/>
          </p:nvSpPr>
          <p:spPr>
            <a:xfrm>
              <a:off x="3420974" y="3205393"/>
              <a:ext cx="374100" cy="374100"/>
            </a:xfrm>
            <a:prstGeom prst="ellipse">
              <a:avLst/>
            </a:prstGeom>
            <a:solidFill>
              <a:srgbClr val="FFFFFF"/>
            </a:solidFill>
            <a:ln>
              <a:noFill/>
            </a:ln>
            <a:effectLst>
              <a:outerShdw blurRad="228600" dist="50800" dir="5400000" algn="tl" rotWithShape="0">
                <a:srgbClr val="000000">
                  <a:alpha val="549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666666"/>
                  </a:solidFill>
                  <a:latin typeface="Montserrat ExtraBold"/>
                  <a:ea typeface="Montserrat ExtraBold"/>
                  <a:cs typeface="Montserrat ExtraBold"/>
                  <a:sym typeface="Montserrat ExtraBold"/>
                </a:rPr>
                <a:t>2</a:t>
              </a:r>
              <a:endParaRPr sz="1200">
                <a:solidFill>
                  <a:srgbClr val="666666"/>
                </a:solidFill>
                <a:latin typeface="Montserrat ExtraBold"/>
                <a:ea typeface="Montserrat ExtraBold"/>
                <a:cs typeface="Montserrat ExtraBold"/>
                <a:sym typeface="Montserrat ExtraBold"/>
              </a:endParaRPr>
            </a:p>
          </p:txBody>
        </p:sp>
        <p:sp>
          <p:nvSpPr>
            <p:cNvPr id="218" name="Google Shape;218;p29"/>
            <p:cNvSpPr txBox="1"/>
            <p:nvPr/>
          </p:nvSpPr>
          <p:spPr>
            <a:xfrm rot="-2700000">
              <a:off x="3410687" y="2240903"/>
              <a:ext cx="2333877" cy="393293"/>
            </a:xfrm>
            <a:prstGeom prst="rect">
              <a:avLst/>
            </a:prstGeom>
            <a:noFill/>
            <a:ln>
              <a:noFill/>
            </a:ln>
          </p:spPr>
          <p:txBody>
            <a:bodyPr spcFirstLastPara="1" wrap="square" lIns="91425" tIns="91425" rIns="91425" bIns="91425" anchor="ctr" anchorCtr="0">
              <a:noAutofit/>
            </a:bodyPr>
            <a:lstStyle/>
            <a:p>
              <a:pPr lvl="0">
                <a:lnSpc>
                  <a:spcPct val="115000"/>
                </a:lnSpc>
              </a:pPr>
              <a:r>
                <a:rPr lang="fr-FR" sz="1100" dirty="0" err="1">
                  <a:solidFill>
                    <a:srgbClr val="FFFFFF"/>
                  </a:solidFill>
                  <a:latin typeface="Montserrat ExtraBold"/>
                  <a:ea typeface="Montserrat ExtraBold"/>
                  <a:cs typeface="Montserrat ExtraBold"/>
                  <a:sym typeface="Montserrat ExtraBold"/>
                </a:rPr>
                <a:t>Popular</a:t>
              </a:r>
              <a:r>
                <a:rPr lang="fr-FR" sz="1100" dirty="0">
                  <a:solidFill>
                    <a:srgbClr val="FFFFFF"/>
                  </a:solidFill>
                  <a:latin typeface="Montserrat ExtraBold"/>
                  <a:ea typeface="Montserrat ExtraBold"/>
                  <a:cs typeface="Montserrat ExtraBold"/>
                  <a:sym typeface="Montserrat ExtraBold"/>
                </a:rPr>
                <a:t> </a:t>
              </a:r>
              <a:r>
                <a:rPr lang="fr-FR" sz="1100" dirty="0" err="1">
                  <a:solidFill>
                    <a:srgbClr val="FFFFFF"/>
                  </a:solidFill>
                  <a:latin typeface="Montserrat ExtraBold"/>
                  <a:ea typeface="Montserrat ExtraBold"/>
                  <a:cs typeface="Montserrat ExtraBold"/>
                  <a:sym typeface="Montserrat ExtraBold"/>
                </a:rPr>
                <a:t>Relational</a:t>
              </a:r>
              <a:r>
                <a:rPr lang="fr-FR" sz="1100" dirty="0">
                  <a:solidFill>
                    <a:srgbClr val="FFFFFF"/>
                  </a:solidFill>
                  <a:latin typeface="Montserrat ExtraBold"/>
                  <a:ea typeface="Montserrat ExtraBold"/>
                  <a:cs typeface="Montserrat ExtraBold"/>
                  <a:sym typeface="Montserrat ExtraBold"/>
                </a:rPr>
                <a:t> </a:t>
              </a:r>
              <a:r>
                <a:rPr lang="fr-FR" sz="1100" dirty="0" err="1">
                  <a:solidFill>
                    <a:srgbClr val="FFFFFF"/>
                  </a:solidFill>
                  <a:latin typeface="Montserrat ExtraBold"/>
                  <a:ea typeface="Montserrat ExtraBold"/>
                  <a:cs typeface="Montserrat ExtraBold"/>
                  <a:sym typeface="Montserrat ExtraBold"/>
                </a:rPr>
                <a:t>Database</a:t>
              </a:r>
              <a:r>
                <a:rPr lang="fr-FR" sz="1100" dirty="0">
                  <a:solidFill>
                    <a:srgbClr val="FFFFFF"/>
                  </a:solidFill>
                  <a:latin typeface="Montserrat ExtraBold"/>
                  <a:ea typeface="Montserrat ExtraBold"/>
                  <a:cs typeface="Montserrat ExtraBold"/>
                  <a:sym typeface="Montserrat ExtraBold"/>
                </a:rPr>
                <a:t> Management </a:t>
              </a:r>
              <a:r>
                <a:rPr lang="fr-FR" sz="1100" dirty="0" err="1">
                  <a:solidFill>
                    <a:srgbClr val="FFFFFF"/>
                  </a:solidFill>
                  <a:latin typeface="Montserrat ExtraBold"/>
                  <a:ea typeface="Montserrat ExtraBold"/>
                  <a:cs typeface="Montserrat ExtraBold"/>
                  <a:sym typeface="Montserrat ExtraBold"/>
                </a:rPr>
                <a:t>Systems</a:t>
              </a:r>
              <a:endParaRPr sz="1100" dirty="0">
                <a:solidFill>
                  <a:srgbClr val="FFFFFF"/>
                </a:solidFill>
                <a:latin typeface="Montserrat ExtraBold"/>
                <a:ea typeface="Montserrat ExtraBold"/>
                <a:cs typeface="Montserrat ExtraBold"/>
                <a:sym typeface="Montserrat ExtraBold"/>
              </a:endParaRPr>
            </a:p>
          </p:txBody>
        </p:sp>
        <p:sp>
          <p:nvSpPr>
            <p:cNvPr id="219" name="Google Shape;219;p29"/>
            <p:cNvSpPr txBox="1"/>
            <p:nvPr/>
          </p:nvSpPr>
          <p:spPr>
            <a:xfrm rot="18900000">
              <a:off x="3869931" y="2550697"/>
              <a:ext cx="2203628" cy="507420"/>
            </a:xfrm>
            <a:prstGeom prst="rect">
              <a:avLst/>
            </a:prstGeom>
            <a:noFill/>
            <a:ln>
              <a:noFill/>
            </a:ln>
          </p:spPr>
          <p:txBody>
            <a:bodyPr spcFirstLastPara="1" wrap="square" lIns="91425" tIns="91425" rIns="91425" bIns="91425" anchor="t" anchorCtr="0">
              <a:noAutofit/>
            </a:bodyPr>
            <a:lstStyle/>
            <a:p>
              <a:pPr lvl="0">
                <a:spcAft>
                  <a:spcPts val="1600"/>
                </a:spcAft>
              </a:pPr>
              <a:r>
                <a:rPr lang="en-US" sz="800" b="1" dirty="0" smtClean="0">
                  <a:solidFill>
                    <a:srgbClr val="666666"/>
                  </a:solidFill>
                  <a:latin typeface="Montserrat"/>
                  <a:ea typeface="Montserrat"/>
                  <a:cs typeface="Montserrat"/>
                  <a:sym typeface="Montserrat"/>
                </a:rPr>
                <a:t>MySQL</a:t>
              </a:r>
              <a:r>
                <a:rPr lang="en-US" sz="800" b="1" dirty="0">
                  <a:solidFill>
                    <a:srgbClr val="666666"/>
                  </a:solidFill>
                  <a:latin typeface="Montserrat"/>
                  <a:ea typeface="Montserrat"/>
                  <a:cs typeface="Montserrat"/>
                  <a:sym typeface="Montserrat"/>
                </a:rPr>
                <a:t>, </a:t>
              </a:r>
              <a:r>
                <a:rPr lang="en-US" sz="800" b="1" dirty="0" err="1" smtClean="0">
                  <a:solidFill>
                    <a:srgbClr val="666666"/>
                  </a:solidFill>
                  <a:latin typeface="Montserrat"/>
                  <a:ea typeface="Montserrat"/>
                  <a:cs typeface="Montserrat"/>
                  <a:sym typeface="Montserrat"/>
                </a:rPr>
                <a:t>PostgreSQL</a:t>
              </a:r>
              <a:r>
                <a:rPr lang="en-US" sz="800" b="1" dirty="0" smtClean="0">
                  <a:solidFill>
                    <a:srgbClr val="666666"/>
                  </a:solidFill>
                  <a:latin typeface="Montserrat"/>
                  <a:ea typeface="Montserrat"/>
                  <a:cs typeface="Montserrat"/>
                  <a:sym typeface="Montserrat"/>
                </a:rPr>
                <a:t> </a:t>
              </a:r>
              <a:r>
                <a:rPr lang="en-US" sz="800" b="1" dirty="0">
                  <a:solidFill>
                    <a:srgbClr val="666666"/>
                  </a:solidFill>
                  <a:latin typeface="Montserrat"/>
                  <a:ea typeface="Montserrat"/>
                  <a:cs typeface="Montserrat"/>
                  <a:sym typeface="Montserrat"/>
                </a:rPr>
                <a:t>and SQL SERVER</a:t>
              </a:r>
              <a:endParaRPr sz="800" b="1" dirty="0">
                <a:solidFill>
                  <a:srgbClr val="666666"/>
                </a:solidFill>
                <a:latin typeface="Montserrat"/>
                <a:ea typeface="Montserrat"/>
                <a:cs typeface="Montserrat"/>
                <a:sym typeface="Montserrat"/>
              </a:endParaRPr>
            </a:p>
          </p:txBody>
        </p:sp>
      </p:grpSp>
      <p:grpSp>
        <p:nvGrpSpPr>
          <p:cNvPr id="220" name="Google Shape;220;p29"/>
          <p:cNvGrpSpPr/>
          <p:nvPr/>
        </p:nvGrpSpPr>
        <p:grpSpPr>
          <a:xfrm>
            <a:off x="6424827" y="1258050"/>
            <a:ext cx="2726286" cy="2547000"/>
            <a:chOff x="5123977" y="1258050"/>
            <a:chExt cx="2726286" cy="2547000"/>
          </a:xfrm>
        </p:grpSpPr>
        <p:sp>
          <p:nvSpPr>
            <p:cNvPr id="221" name="Google Shape;221;p29"/>
            <p:cNvSpPr/>
            <p:nvPr/>
          </p:nvSpPr>
          <p:spPr>
            <a:xfrm rot="2700000">
              <a:off x="6116614" y="1011412"/>
              <a:ext cx="561726" cy="3040276"/>
            </a:xfrm>
            <a:prstGeom prst="roundRect">
              <a:avLst>
                <a:gd name="adj" fmla="val 50000"/>
              </a:avLst>
            </a:prstGeom>
            <a:gradFill>
              <a:gsLst>
                <a:gs pos="0">
                  <a:srgbClr val="3C78D8"/>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9"/>
            <p:cNvSpPr/>
            <p:nvPr/>
          </p:nvSpPr>
          <p:spPr>
            <a:xfrm>
              <a:off x="5340992" y="3205393"/>
              <a:ext cx="374100" cy="374100"/>
            </a:xfrm>
            <a:prstGeom prst="ellipse">
              <a:avLst/>
            </a:prstGeom>
            <a:solidFill>
              <a:srgbClr val="FFFFFF"/>
            </a:solidFill>
            <a:ln>
              <a:noFill/>
            </a:ln>
            <a:effectLst>
              <a:outerShdw blurRad="228600" dist="50800" dir="5400000" algn="tl" rotWithShape="0">
                <a:srgbClr val="000000">
                  <a:alpha val="549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666666"/>
                  </a:solidFill>
                  <a:latin typeface="Montserrat ExtraBold"/>
                  <a:ea typeface="Montserrat ExtraBold"/>
                  <a:cs typeface="Montserrat ExtraBold"/>
                  <a:sym typeface="Montserrat ExtraBold"/>
                </a:rPr>
                <a:t>3</a:t>
              </a:r>
              <a:endParaRPr sz="1200">
                <a:solidFill>
                  <a:srgbClr val="666666"/>
                </a:solidFill>
                <a:latin typeface="Montserrat ExtraBold"/>
                <a:ea typeface="Montserrat ExtraBold"/>
                <a:cs typeface="Montserrat ExtraBold"/>
                <a:sym typeface="Montserrat ExtraBold"/>
              </a:endParaRPr>
            </a:p>
          </p:txBody>
        </p:sp>
        <p:sp>
          <p:nvSpPr>
            <p:cNvPr id="223" name="Google Shape;223;p29"/>
            <p:cNvSpPr txBox="1"/>
            <p:nvPr/>
          </p:nvSpPr>
          <p:spPr>
            <a:xfrm rot="-2700000">
              <a:off x="5323969" y="2238203"/>
              <a:ext cx="2341513" cy="393293"/>
            </a:xfrm>
            <a:prstGeom prst="rect">
              <a:avLst/>
            </a:prstGeom>
            <a:noFill/>
            <a:ln>
              <a:noFill/>
            </a:ln>
          </p:spPr>
          <p:txBody>
            <a:bodyPr spcFirstLastPara="1" wrap="square" lIns="91425" tIns="91425" rIns="91425" bIns="91425" anchor="ctr" anchorCtr="0">
              <a:noAutofit/>
            </a:bodyPr>
            <a:lstStyle/>
            <a:p>
              <a:pPr lvl="0">
                <a:lnSpc>
                  <a:spcPct val="115000"/>
                </a:lnSpc>
              </a:pPr>
              <a:r>
                <a:rPr lang="en-US" sz="1100" dirty="0" smtClean="0">
                  <a:solidFill>
                    <a:srgbClr val="FFFFFF"/>
                  </a:solidFill>
                  <a:latin typeface="Montserrat ExtraBold"/>
                  <a:ea typeface="Montserrat ExtraBold"/>
                  <a:cs typeface="Montserrat ExtraBold"/>
                  <a:sym typeface="Montserrat ExtraBold"/>
                </a:rPr>
                <a:t>Comparison </a:t>
              </a:r>
              <a:r>
                <a:rPr lang="en-US" sz="1100" dirty="0">
                  <a:solidFill>
                    <a:srgbClr val="FFFFFF"/>
                  </a:solidFill>
                  <a:latin typeface="Montserrat ExtraBold"/>
                  <a:ea typeface="Montserrat ExtraBold"/>
                  <a:cs typeface="Montserrat ExtraBold"/>
                  <a:sym typeface="Montserrat ExtraBold"/>
                </a:rPr>
                <a:t>between the three RDBMS</a:t>
              </a:r>
              <a:endParaRPr sz="1100" dirty="0">
                <a:solidFill>
                  <a:srgbClr val="FFFFFF"/>
                </a:solidFill>
                <a:latin typeface="Montserrat ExtraBold"/>
                <a:ea typeface="Montserrat ExtraBold"/>
                <a:cs typeface="Montserrat ExtraBold"/>
                <a:sym typeface="Montserrat ExtraBold"/>
              </a:endParaRPr>
            </a:p>
          </p:txBody>
        </p:sp>
        <p:sp>
          <p:nvSpPr>
            <p:cNvPr id="224" name="Google Shape;224;p29"/>
            <p:cNvSpPr txBox="1"/>
            <p:nvPr/>
          </p:nvSpPr>
          <p:spPr>
            <a:xfrm rot="-2700000">
              <a:off x="5789949" y="2550697"/>
              <a:ext cx="2203628" cy="50742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fr-FR" sz="800" dirty="0" smtClean="0">
                  <a:solidFill>
                    <a:srgbClr val="666666"/>
                  </a:solidFill>
                  <a:latin typeface="Montserrat"/>
                  <a:ea typeface="Montserrat"/>
                  <a:cs typeface="Montserrat"/>
                  <a:sym typeface="Montserrat"/>
                </a:rPr>
                <a:t>A</a:t>
              </a:r>
              <a:r>
                <a:rPr lang="en" sz="800" dirty="0" smtClean="0">
                  <a:solidFill>
                    <a:srgbClr val="666666"/>
                  </a:solidFill>
                  <a:latin typeface="Montserrat"/>
                  <a:ea typeface="Montserrat"/>
                  <a:cs typeface="Montserrat"/>
                  <a:sym typeface="Montserrat"/>
                </a:rPr>
                <a:t>dvantage/Disadvantage ofMySQL/ AdvantageDisadvantage PostareSQL/Advantage/Disadvantage SQL SERVER</a:t>
              </a:r>
            </a:p>
            <a:p>
              <a:pPr marL="0" lvl="0" indent="0" algn="l" rtl="0">
                <a:spcBef>
                  <a:spcPts val="0"/>
                </a:spcBef>
                <a:spcAft>
                  <a:spcPts val="1600"/>
                </a:spcAft>
                <a:buNone/>
              </a:pPr>
              <a:r>
                <a:rPr lang="en" sz="800" dirty="0" smtClean="0">
                  <a:solidFill>
                    <a:srgbClr val="666666"/>
                  </a:solidFill>
                  <a:latin typeface="Montserrat"/>
                  <a:ea typeface="Montserrat"/>
                  <a:cs typeface="Montserrat"/>
                  <a:sym typeface="Montserrat"/>
                </a:rPr>
                <a:t>	</a:t>
              </a:r>
              <a:endParaRPr sz="800" b="1" dirty="0">
                <a:solidFill>
                  <a:srgbClr val="666666"/>
                </a:solidFill>
                <a:latin typeface="Montserrat"/>
                <a:ea typeface="Montserrat"/>
                <a:cs typeface="Montserrat"/>
                <a:sym typeface="Montserrat"/>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en-US" sz="2800" dirty="0">
                <a:solidFill>
                  <a:srgbClr val="FFFFFF"/>
                </a:solidFill>
              </a:rPr>
              <a:t>What is a Database?</a:t>
            </a:r>
          </a:p>
        </p:txBody>
      </p:sp>
      <p:sp>
        <p:nvSpPr>
          <p:cNvPr id="6" name="Espace réservé du numéro de diapositive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3</a:t>
            </a:fld>
            <a:endParaRPr lang="fr-FR"/>
          </a:p>
        </p:txBody>
      </p:sp>
      <p:sp>
        <p:nvSpPr>
          <p:cNvPr id="3" name="Espace réservé du texte 2"/>
          <p:cNvSpPr>
            <a:spLocks noGrp="1"/>
          </p:cNvSpPr>
          <p:nvPr>
            <p:ph type="body" idx="4294967295"/>
          </p:nvPr>
        </p:nvSpPr>
        <p:spPr>
          <a:xfrm>
            <a:off x="4095750" y="798513"/>
            <a:ext cx="5048250" cy="3540125"/>
          </a:xfrm>
        </p:spPr>
        <p:txBody>
          <a:bodyPr/>
          <a:lstStyle/>
          <a:p>
            <a:r>
              <a:rPr lang="en-US" dirty="0"/>
              <a:t>A </a:t>
            </a:r>
            <a:r>
              <a:rPr lang="en-US" i="1" dirty="0"/>
              <a:t>database</a:t>
            </a:r>
            <a:r>
              <a:rPr lang="en-US" dirty="0"/>
              <a:t> is a set of data stored in a computer. This data is usually structured in a way that makes the data easily accessible.</a:t>
            </a:r>
            <a:br>
              <a:rPr lang="en-US" dirty="0"/>
            </a:br>
            <a:endParaRPr lang="en-US" dirty="0"/>
          </a:p>
          <a:p>
            <a:r>
              <a:rPr lang="en-US" dirty="0"/>
              <a:t/>
            </a:r>
            <a:br>
              <a:rPr lang="en-US" dirty="0"/>
            </a:br>
            <a:endParaRPr lang="fr-FR" dirty="0"/>
          </a:p>
        </p:txBody>
      </p:sp>
    </p:spTree>
    <p:extLst>
      <p:ext uri="{BB962C8B-B14F-4D97-AF65-F5344CB8AC3E}">
        <p14:creationId xmlns:p14="http://schemas.microsoft.com/office/powerpoint/2010/main" val="35173243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z="2800" b="1" dirty="0"/>
              <a:t>What is a Relational Database?</a:t>
            </a:r>
          </a:p>
        </p:txBody>
      </p:sp>
      <p:sp>
        <p:nvSpPr>
          <p:cNvPr id="6" name="Espace réservé du numéro de diapositive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4</a:t>
            </a:fld>
            <a:endParaRPr lang="fr-FR"/>
          </a:p>
        </p:txBody>
      </p:sp>
      <p:sp>
        <p:nvSpPr>
          <p:cNvPr id="3" name="Espace réservé du texte 2"/>
          <p:cNvSpPr>
            <a:spLocks noGrp="1"/>
          </p:cNvSpPr>
          <p:nvPr>
            <p:ph type="body" idx="4294967295"/>
          </p:nvPr>
        </p:nvSpPr>
        <p:spPr>
          <a:xfrm>
            <a:off x="3707904" y="843558"/>
            <a:ext cx="5048250" cy="3540125"/>
          </a:xfrm>
        </p:spPr>
        <p:txBody>
          <a:bodyPr/>
          <a:lstStyle/>
          <a:p>
            <a:r>
              <a:rPr lang="en-US" dirty="0"/>
              <a:t>A relational database is a type of database. It uses a structure that allows us to identify and access data in relation to another piece of data in the database. Often, data in a relational database is organized into tables.</a:t>
            </a:r>
            <a:endParaRPr lang="fr-FR" dirty="0"/>
          </a:p>
        </p:txBody>
      </p:sp>
    </p:spTree>
    <p:extLst>
      <p:ext uri="{BB962C8B-B14F-4D97-AF65-F5344CB8AC3E}">
        <p14:creationId xmlns:p14="http://schemas.microsoft.com/office/powerpoint/2010/main" val="27997043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en-US" sz="2800" dirty="0">
                <a:solidFill>
                  <a:srgbClr val="FFFFFF"/>
                </a:solidFill>
              </a:rPr>
              <a:t>What is a Relational Database Management System?</a:t>
            </a:r>
            <a:br>
              <a:rPr lang="en-US" sz="2800" dirty="0">
                <a:solidFill>
                  <a:srgbClr val="FFFFFF"/>
                </a:solidFill>
              </a:rPr>
            </a:br>
            <a:endParaRPr lang="fr-FR" i="1" dirty="0"/>
          </a:p>
        </p:txBody>
      </p:sp>
      <p:sp>
        <p:nvSpPr>
          <p:cNvPr id="6" name="Espace réservé du numéro de diapositive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5</a:t>
            </a:fld>
            <a:endParaRPr lang="fr-FR"/>
          </a:p>
        </p:txBody>
      </p:sp>
      <p:sp>
        <p:nvSpPr>
          <p:cNvPr id="3" name="Espace réservé du texte 2"/>
          <p:cNvSpPr>
            <a:spLocks noGrp="1"/>
          </p:cNvSpPr>
          <p:nvPr>
            <p:ph type="body" idx="4294967295"/>
          </p:nvPr>
        </p:nvSpPr>
        <p:spPr>
          <a:xfrm>
            <a:off x="4095750" y="798513"/>
            <a:ext cx="5048250" cy="3540125"/>
          </a:xfrm>
        </p:spPr>
        <p:txBody>
          <a:bodyPr/>
          <a:lstStyle/>
          <a:p>
            <a:r>
              <a:rPr lang="en-US" dirty="0"/>
              <a:t>A relational database management system (RDBMS) is a program that allows you to create, update, and administer a relational database. Most relational database management systems use the SQL language to access the database.</a:t>
            </a:r>
            <a:endParaRPr lang="fr-FR" dirty="0"/>
          </a:p>
        </p:txBody>
      </p:sp>
    </p:spTree>
    <p:extLst>
      <p:ext uri="{BB962C8B-B14F-4D97-AF65-F5344CB8AC3E}">
        <p14:creationId xmlns:p14="http://schemas.microsoft.com/office/powerpoint/2010/main" val="35173243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6</a:t>
            </a:fld>
            <a:endParaRPr lang="fr-FR"/>
          </a:p>
        </p:txBody>
      </p:sp>
      <p:sp>
        <p:nvSpPr>
          <p:cNvPr id="3" name="Espace réservé du texte 1"/>
          <p:cNvSpPr txBox="1">
            <a:spLocks/>
          </p:cNvSpPr>
          <p:nvPr/>
        </p:nvSpPr>
        <p:spPr>
          <a:xfrm>
            <a:off x="457200" y="534577"/>
            <a:ext cx="8229600" cy="393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b="1" dirty="0"/>
              <a:t>Tables: </a:t>
            </a:r>
            <a:r>
              <a:rPr lang="fr-FR" b="1" dirty="0" err="1"/>
              <a:t>Rows</a:t>
            </a:r>
            <a:r>
              <a:rPr lang="fr-FR" b="1" dirty="0"/>
              <a:t> and </a:t>
            </a:r>
            <a:r>
              <a:rPr lang="fr-FR" b="1" dirty="0" err="1"/>
              <a:t>Columns</a:t>
            </a:r>
            <a:endParaRPr lang="fr-FR" b="1" dirty="0"/>
          </a:p>
          <a:p>
            <a:r>
              <a:rPr lang="fr-FR" dirty="0"/>
              <a:t/>
            </a:r>
            <a:br>
              <a:rPr lang="fr-FR" dirty="0"/>
            </a:br>
            <a:endParaRPr lang="fr-FR" dirty="0"/>
          </a:p>
        </p:txBody>
      </p:sp>
      <p:sp>
        <p:nvSpPr>
          <p:cNvPr id="7" name="Espace réservé du texte 2"/>
          <p:cNvSpPr txBox="1">
            <a:spLocks/>
          </p:cNvSpPr>
          <p:nvPr/>
        </p:nvSpPr>
        <p:spPr>
          <a:xfrm>
            <a:off x="1475656" y="928177"/>
            <a:ext cx="5904656" cy="129614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dirty="0" smtClean="0">
                <a:solidFill>
                  <a:schemeClr val="tx2"/>
                </a:solidFill>
                <a:latin typeface="Modern No. 20" pitchFamily="18" charset="0"/>
              </a:rPr>
              <a:t>A relational database management system (RDBMS) is a program that allows you to create, update, and administer a relational database. Most relational database management systems use the SQL language to access the database.</a:t>
            </a:r>
            <a:endParaRPr lang="fr-FR" sz="1800" dirty="0">
              <a:solidFill>
                <a:schemeClr val="tx2"/>
              </a:solidFill>
              <a:latin typeface="Modern No. 20" pitchFamily="18" charset="0"/>
            </a:endParaRPr>
          </a:p>
        </p:txBody>
      </p:sp>
      <p:sp>
        <p:nvSpPr>
          <p:cNvPr id="8" name="AutoShape 2" descr="Tab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9" name="AutoShape 4" descr="Tabl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0" name="AutoShape 6" descr="Table"/>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3" name="Imag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490" y="2283718"/>
            <a:ext cx="4142389" cy="2126984"/>
          </a:xfrm>
          <a:prstGeom prst="rect">
            <a:avLst/>
          </a:prstGeom>
        </p:spPr>
      </p:pic>
      <p:sp>
        <p:nvSpPr>
          <p:cNvPr id="14" name="ZoneTexte 13"/>
          <p:cNvSpPr txBox="1"/>
          <p:nvPr/>
        </p:nvSpPr>
        <p:spPr>
          <a:xfrm>
            <a:off x="4734879" y="2546991"/>
            <a:ext cx="3935288" cy="1600438"/>
          </a:xfrm>
          <a:prstGeom prst="rect">
            <a:avLst/>
          </a:prstGeom>
          <a:noFill/>
        </p:spPr>
        <p:txBody>
          <a:bodyPr wrap="square" rtlCol="0">
            <a:spAutoFit/>
          </a:bodyPr>
          <a:lstStyle/>
          <a:p>
            <a:r>
              <a:rPr lang="en-US" sz="1200" dirty="0">
                <a:solidFill>
                  <a:schemeClr val="tx2"/>
                </a:solidFill>
                <a:latin typeface="Modern No. 20" pitchFamily="18" charset="0"/>
              </a:rPr>
              <a:t>In </a:t>
            </a:r>
            <a:r>
              <a:rPr lang="en-US" sz="1200" dirty="0" smtClean="0">
                <a:solidFill>
                  <a:schemeClr val="tx2"/>
                </a:solidFill>
                <a:latin typeface="Modern No. 20" pitchFamily="18" charset="0"/>
              </a:rPr>
              <a:t>this table, </a:t>
            </a:r>
            <a:r>
              <a:rPr lang="en-US" sz="1200" dirty="0">
                <a:solidFill>
                  <a:schemeClr val="tx2"/>
                </a:solidFill>
                <a:latin typeface="Modern No. 20" pitchFamily="18" charset="0"/>
              </a:rPr>
              <a:t>there are three columns (name, age, and country).</a:t>
            </a:r>
          </a:p>
          <a:p>
            <a:r>
              <a:rPr lang="en-US" sz="1200" dirty="0">
                <a:solidFill>
                  <a:schemeClr val="tx2"/>
                </a:solidFill>
                <a:latin typeface="Modern No. 20" pitchFamily="18" charset="0"/>
              </a:rPr>
              <a:t>The name and country columns store string data types, whereas age stores integer data types. The set of columns and data types make up the schema of this table.</a:t>
            </a:r>
          </a:p>
          <a:p>
            <a:r>
              <a:rPr lang="en-US" sz="1200" dirty="0">
                <a:solidFill>
                  <a:schemeClr val="tx2"/>
                </a:solidFill>
                <a:latin typeface="Modern No. 20" pitchFamily="18" charset="0"/>
              </a:rPr>
              <a:t>The table also has four rows, or records, in it (one each for Natalia, Ned, </a:t>
            </a:r>
            <a:r>
              <a:rPr lang="en-US" sz="1200" dirty="0" err="1">
                <a:solidFill>
                  <a:schemeClr val="tx2"/>
                </a:solidFill>
                <a:latin typeface="Modern No. 20" pitchFamily="18" charset="0"/>
              </a:rPr>
              <a:t>Zenas</a:t>
            </a:r>
            <a:r>
              <a:rPr lang="en-US" sz="1200" dirty="0">
                <a:solidFill>
                  <a:schemeClr val="tx2"/>
                </a:solidFill>
                <a:latin typeface="Modern No. 20" pitchFamily="18" charset="0"/>
              </a:rPr>
              <a:t>, and Laura).</a:t>
            </a:r>
          </a:p>
          <a:p>
            <a:endParaRPr lang="fr-FR" dirty="0"/>
          </a:p>
        </p:txBody>
      </p:sp>
    </p:spTree>
    <p:extLst>
      <p:ext uri="{BB962C8B-B14F-4D97-AF65-F5344CB8AC3E}">
        <p14:creationId xmlns:p14="http://schemas.microsoft.com/office/powerpoint/2010/main" val="2169930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en-US" sz="2800" dirty="0">
                <a:solidFill>
                  <a:srgbClr val="FFFFFF"/>
                </a:solidFill>
              </a:rPr>
              <a:t>What is a Relational Database Management System (RDBMS)?</a:t>
            </a:r>
            <a:endParaRPr lang="fr-FR" i="1" dirty="0"/>
          </a:p>
        </p:txBody>
      </p:sp>
      <p:sp>
        <p:nvSpPr>
          <p:cNvPr id="6" name="Espace réservé du numéro de diapositive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7</a:t>
            </a:fld>
            <a:endParaRPr lang="fr-FR"/>
          </a:p>
        </p:txBody>
      </p:sp>
      <p:sp>
        <p:nvSpPr>
          <p:cNvPr id="3" name="Espace réservé du texte 2"/>
          <p:cNvSpPr>
            <a:spLocks noGrp="1"/>
          </p:cNvSpPr>
          <p:nvPr>
            <p:ph type="body" idx="4294967295"/>
          </p:nvPr>
        </p:nvSpPr>
        <p:spPr>
          <a:xfrm>
            <a:off x="4095750" y="798513"/>
            <a:ext cx="5048250" cy="3540125"/>
          </a:xfrm>
        </p:spPr>
        <p:txBody>
          <a:bodyPr/>
          <a:lstStyle/>
          <a:p>
            <a:r>
              <a:rPr lang="en-US" dirty="0"/>
              <a:t>A relational database management system (RDBMS) is a program that allows you to create, update, and administer a relational database. Most relational database management systems use the SQL language to access the database.</a:t>
            </a:r>
            <a:endParaRPr lang="fr-FR" dirty="0"/>
          </a:p>
        </p:txBody>
      </p:sp>
    </p:spTree>
    <p:extLst>
      <p:ext uri="{BB962C8B-B14F-4D97-AF65-F5344CB8AC3E}">
        <p14:creationId xmlns:p14="http://schemas.microsoft.com/office/powerpoint/2010/main" val="35173243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0"/>
            <a:r>
              <a:rPr lang="en-US" sz="2800" dirty="0">
                <a:solidFill>
                  <a:srgbClr val="FFFFFF"/>
                </a:solidFill>
              </a:rPr>
              <a:t>What is SQL?</a:t>
            </a:r>
            <a:endParaRPr lang="fr-FR" i="1" dirty="0"/>
          </a:p>
        </p:txBody>
      </p:sp>
      <p:sp>
        <p:nvSpPr>
          <p:cNvPr id="6" name="Espace réservé du numéro de diapositive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8</a:t>
            </a:fld>
            <a:endParaRPr lang="fr-FR"/>
          </a:p>
        </p:txBody>
      </p:sp>
      <p:sp>
        <p:nvSpPr>
          <p:cNvPr id="3" name="Espace réservé du texte 2"/>
          <p:cNvSpPr>
            <a:spLocks noGrp="1"/>
          </p:cNvSpPr>
          <p:nvPr>
            <p:ph type="body" idx="4294967295"/>
          </p:nvPr>
        </p:nvSpPr>
        <p:spPr>
          <a:xfrm>
            <a:off x="3707904" y="843558"/>
            <a:ext cx="5048250" cy="3540125"/>
          </a:xfrm>
        </p:spPr>
        <p:txBody>
          <a:bodyPr/>
          <a:lstStyle/>
          <a:p>
            <a:r>
              <a:rPr lang="en-US" sz="1050" dirty="0"/>
              <a:t>SQL (Structured Query Language) is a programming language used to communicate with data stored in a relational database management system. SQL syntax is similar to the English language, which makes it relatively easy to write, read, and interpret.</a:t>
            </a:r>
          </a:p>
          <a:p>
            <a:endParaRPr lang="en-US" sz="1050" dirty="0"/>
          </a:p>
          <a:p>
            <a:r>
              <a:rPr lang="en-US" sz="1050" dirty="0"/>
              <a:t>Many RDBMSs use SQL (and variations of SQL) to access the data in tables. For example, SQLite is a relational database management system. SQLite contains a minimal set of SQL commands (which are the same across all RDBMSs). Other RDBMSs may use other variants.</a:t>
            </a:r>
          </a:p>
          <a:p>
            <a:endParaRPr lang="en-US" sz="1050" dirty="0"/>
          </a:p>
          <a:p>
            <a:r>
              <a:rPr lang="en-US" sz="1050" dirty="0"/>
              <a:t>(SQL is often pronounced in one of two ways. You can pronounce it by speaking each letter individually like “S-Q-L”, or pronounce it using the word “sequel”.)</a:t>
            </a:r>
            <a:endParaRPr lang="fr-FR" sz="1050" dirty="0"/>
          </a:p>
        </p:txBody>
      </p:sp>
    </p:spTree>
    <p:extLst>
      <p:ext uri="{BB962C8B-B14F-4D97-AF65-F5344CB8AC3E}">
        <p14:creationId xmlns:p14="http://schemas.microsoft.com/office/powerpoint/2010/main" val="4209067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MySQL</a:t>
            </a:r>
          </a:p>
        </p:txBody>
      </p:sp>
      <p:sp>
        <p:nvSpPr>
          <p:cNvPr id="3" name="Espace réservé du numéro de diapositive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9</a:t>
            </a:fld>
            <a:endParaRPr lang="fr-FR"/>
          </a:p>
        </p:txBody>
      </p:sp>
      <p:sp>
        <p:nvSpPr>
          <p:cNvPr id="4" name="Espace réservé du texte 2"/>
          <p:cNvSpPr txBox="1">
            <a:spLocks/>
          </p:cNvSpPr>
          <p:nvPr/>
        </p:nvSpPr>
        <p:spPr>
          <a:xfrm>
            <a:off x="3844324" y="797725"/>
            <a:ext cx="5048155" cy="3540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smtClean="0">
                <a:solidFill>
                  <a:schemeClr val="tx2">
                    <a:lumMod val="10000"/>
                  </a:schemeClr>
                </a:solidFill>
              </a:rPr>
              <a:t>SQL (Structured Query Language) is a programming language used to communicate with data stored in a relational database management system. SQL syntax is similar to the English language, which makes it relatively easy to write, read, and interpret.</a:t>
            </a:r>
          </a:p>
          <a:p>
            <a:endParaRPr lang="en-US" dirty="0" smtClean="0">
              <a:solidFill>
                <a:schemeClr val="tx2">
                  <a:lumMod val="10000"/>
                </a:schemeClr>
              </a:solidFill>
            </a:endParaRPr>
          </a:p>
          <a:p>
            <a:r>
              <a:rPr lang="en-US" dirty="0" smtClean="0">
                <a:solidFill>
                  <a:schemeClr val="tx2">
                    <a:lumMod val="10000"/>
                  </a:schemeClr>
                </a:solidFill>
              </a:rPr>
              <a:t>Many RDBMSs use SQL (and variations of SQL) to access the data in tables. For example, SQLite is a relational database management system. SQLite contains a minimal set of SQL commands (which are the same across all RDBMSs). Other RDBMSs may use other variants.</a:t>
            </a:r>
          </a:p>
          <a:p>
            <a:endParaRPr lang="en-US" dirty="0" smtClean="0">
              <a:solidFill>
                <a:schemeClr val="tx2">
                  <a:lumMod val="10000"/>
                </a:schemeClr>
              </a:solidFill>
            </a:endParaRPr>
          </a:p>
          <a:p>
            <a:r>
              <a:rPr lang="en-US" dirty="0" smtClean="0">
                <a:solidFill>
                  <a:schemeClr val="tx2">
                    <a:lumMod val="10000"/>
                  </a:schemeClr>
                </a:solidFill>
              </a:rPr>
              <a:t>(SQL is often pronounced in one of two ways. You can pronounce it by speaking each letter individually like “S-Q-L”, or pronounce it using the word “sequel”.)</a:t>
            </a:r>
            <a:endParaRPr lang="fr-FR" dirty="0">
              <a:solidFill>
                <a:schemeClr val="tx2">
                  <a:lumMod val="10000"/>
                </a:schemeClr>
              </a:solidFill>
            </a:endParaRPr>
          </a:p>
        </p:txBody>
      </p:sp>
    </p:spTree>
    <p:extLst>
      <p:ext uri="{BB962C8B-B14F-4D97-AF65-F5344CB8AC3E}">
        <p14:creationId xmlns:p14="http://schemas.microsoft.com/office/powerpoint/2010/main" val="23781603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83568" y="627534"/>
            <a:ext cx="2288824" cy="3327600"/>
          </a:xfrm>
        </p:spPr>
        <p:txBody>
          <a:bodyPr/>
          <a:lstStyle/>
          <a:p>
            <a:r>
              <a:rPr lang="fr-FR" dirty="0" err="1"/>
              <a:t>PostgreSQL</a:t>
            </a:r>
            <a:endParaRPr lang="fr-FR" dirty="0"/>
          </a:p>
        </p:txBody>
      </p:sp>
      <p:sp>
        <p:nvSpPr>
          <p:cNvPr id="3" name="Espace réservé du numéro de diapositive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10</a:t>
            </a:fld>
            <a:endParaRPr lang="fr-FR"/>
          </a:p>
        </p:txBody>
      </p:sp>
      <p:sp>
        <p:nvSpPr>
          <p:cNvPr id="4" name="Espace réservé du texte 2"/>
          <p:cNvSpPr txBox="1">
            <a:spLocks/>
          </p:cNvSpPr>
          <p:nvPr/>
        </p:nvSpPr>
        <p:spPr>
          <a:xfrm>
            <a:off x="3844324" y="797725"/>
            <a:ext cx="5048155" cy="3540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err="1">
                <a:solidFill>
                  <a:schemeClr val="tx2">
                    <a:lumMod val="10000"/>
                  </a:schemeClr>
                </a:solidFill>
              </a:rPr>
              <a:t>PostgreSQL</a:t>
            </a:r>
            <a:r>
              <a:rPr lang="en-US" dirty="0">
                <a:solidFill>
                  <a:schemeClr val="tx2">
                    <a:lumMod val="10000"/>
                  </a:schemeClr>
                </a:solidFill>
              </a:rPr>
              <a:t> is an open source SQL database that is not controlled by any corporation. It is typically used for web application development.</a:t>
            </a:r>
          </a:p>
          <a:p>
            <a:endParaRPr lang="en-US" dirty="0">
              <a:solidFill>
                <a:schemeClr val="tx2">
                  <a:lumMod val="10000"/>
                </a:schemeClr>
              </a:solidFill>
            </a:endParaRPr>
          </a:p>
          <a:p>
            <a:r>
              <a:rPr lang="en-US" dirty="0" err="1">
                <a:solidFill>
                  <a:schemeClr val="tx2">
                    <a:lumMod val="10000"/>
                  </a:schemeClr>
                </a:solidFill>
              </a:rPr>
              <a:t>PostgreSQL</a:t>
            </a:r>
            <a:r>
              <a:rPr lang="en-US" dirty="0">
                <a:solidFill>
                  <a:schemeClr val="tx2">
                    <a:lumMod val="10000"/>
                  </a:schemeClr>
                </a:solidFill>
              </a:rPr>
              <a:t> shares many of the same advantages of MySQL. It is easy to use, inexpensive, reliable and has a large community of developers. It also provides some additional features such as foreign key support without requiring complex configuration.</a:t>
            </a:r>
          </a:p>
          <a:p>
            <a:endParaRPr lang="en-US" dirty="0">
              <a:solidFill>
                <a:schemeClr val="tx2">
                  <a:lumMod val="10000"/>
                </a:schemeClr>
              </a:solidFill>
            </a:endParaRPr>
          </a:p>
          <a:p>
            <a:r>
              <a:rPr lang="en-US" dirty="0">
                <a:solidFill>
                  <a:schemeClr val="tx2">
                    <a:lumMod val="10000"/>
                  </a:schemeClr>
                </a:solidFill>
              </a:rPr>
              <a:t>The main disadvantage of </a:t>
            </a:r>
            <a:r>
              <a:rPr lang="en-US" dirty="0" err="1">
                <a:solidFill>
                  <a:schemeClr val="tx2">
                    <a:lumMod val="10000"/>
                  </a:schemeClr>
                </a:solidFill>
              </a:rPr>
              <a:t>PostgreSQL</a:t>
            </a:r>
            <a:r>
              <a:rPr lang="en-US" dirty="0">
                <a:solidFill>
                  <a:schemeClr val="tx2">
                    <a:lumMod val="10000"/>
                  </a:schemeClr>
                </a:solidFill>
              </a:rPr>
              <a:t> is that it can be slower in performance than other databases such as MySQL. It is also slightly less popular than MySQL.</a:t>
            </a:r>
          </a:p>
        </p:txBody>
      </p:sp>
    </p:spTree>
    <p:extLst>
      <p:ext uri="{BB962C8B-B14F-4D97-AF65-F5344CB8AC3E}">
        <p14:creationId xmlns:p14="http://schemas.microsoft.com/office/powerpoint/2010/main" val="6116870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SQL Server</a:t>
            </a:r>
          </a:p>
        </p:txBody>
      </p:sp>
      <p:sp>
        <p:nvSpPr>
          <p:cNvPr id="3" name="Espace réservé du numéro de diapositive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11</a:t>
            </a:fld>
            <a:endParaRPr lang="fr-FR"/>
          </a:p>
        </p:txBody>
      </p:sp>
      <p:sp>
        <p:nvSpPr>
          <p:cNvPr id="4" name="Espace réservé du texte 2"/>
          <p:cNvSpPr txBox="1">
            <a:spLocks/>
          </p:cNvSpPr>
          <p:nvPr/>
        </p:nvSpPr>
        <p:spPr>
          <a:xfrm>
            <a:off x="3828503" y="1419622"/>
            <a:ext cx="5048155" cy="35406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tx2">
                    <a:lumMod val="10000"/>
                  </a:schemeClr>
                </a:solidFill>
              </a:rPr>
              <a:t>Microsoft owns SQL Server. Like Oracle DB, the code is close sourced.</a:t>
            </a:r>
          </a:p>
          <a:p>
            <a:endParaRPr lang="en-US" dirty="0">
              <a:solidFill>
                <a:schemeClr val="tx2">
                  <a:lumMod val="10000"/>
                </a:schemeClr>
              </a:solidFill>
            </a:endParaRPr>
          </a:p>
          <a:p>
            <a:r>
              <a:rPr lang="en-US" dirty="0">
                <a:solidFill>
                  <a:schemeClr val="tx2">
                    <a:lumMod val="10000"/>
                  </a:schemeClr>
                </a:solidFill>
              </a:rPr>
              <a:t>Large enterprise applications mostly use SQL Server.</a:t>
            </a:r>
          </a:p>
          <a:p>
            <a:endParaRPr lang="en-US" dirty="0">
              <a:solidFill>
                <a:schemeClr val="tx2">
                  <a:lumMod val="10000"/>
                </a:schemeClr>
              </a:solidFill>
            </a:endParaRPr>
          </a:p>
          <a:p>
            <a:r>
              <a:rPr lang="en-US" dirty="0">
                <a:solidFill>
                  <a:schemeClr val="tx2">
                    <a:lumMod val="10000"/>
                  </a:schemeClr>
                </a:solidFill>
              </a:rPr>
              <a:t>Microsoft offers a free entry-level version called Express but can become very expensive as you scale your application.</a:t>
            </a:r>
            <a:endParaRPr lang="fr-FR" dirty="0">
              <a:solidFill>
                <a:schemeClr val="tx2">
                  <a:lumMod val="10000"/>
                </a:schemeClr>
              </a:solidFill>
            </a:endParaRPr>
          </a:p>
        </p:txBody>
      </p:sp>
    </p:spTree>
    <p:extLst>
      <p:ext uri="{BB962C8B-B14F-4D97-AF65-F5344CB8AC3E}">
        <p14:creationId xmlns:p14="http://schemas.microsoft.com/office/powerpoint/2010/main" val="6116870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699000" y="911700"/>
            <a:ext cx="2216816" cy="3327600"/>
          </a:xfrm>
        </p:spPr>
        <p:txBody>
          <a:bodyPr/>
          <a:lstStyle/>
          <a:p>
            <a:r>
              <a:rPr lang="fr-FR" dirty="0" err="1"/>
              <a:t>Advantages</a:t>
            </a:r>
            <a:r>
              <a:rPr lang="fr-FR" dirty="0"/>
              <a:t> of MySQL</a:t>
            </a:r>
          </a:p>
        </p:txBody>
      </p:sp>
      <p:sp>
        <p:nvSpPr>
          <p:cNvPr id="6" name="Espace réservé du texte 5"/>
          <p:cNvSpPr>
            <a:spLocks noGrp="1"/>
          </p:cNvSpPr>
          <p:nvPr>
            <p:ph type="body" idx="1"/>
          </p:nvPr>
        </p:nvSpPr>
        <p:spPr>
          <a:xfrm>
            <a:off x="3203848" y="627534"/>
            <a:ext cx="5483077" cy="3941915"/>
          </a:xfrm>
        </p:spPr>
        <p:txBody>
          <a:bodyPr/>
          <a:lstStyle/>
          <a:p>
            <a:r>
              <a:rPr lang="en-US" sz="900" b="1" dirty="0"/>
              <a:t>Popularity and ease of use</a:t>
            </a:r>
            <a:r>
              <a:rPr lang="en-US" sz="900" dirty="0"/>
              <a:t>: As one of the world’s most popular database systems, there’s no shortage of database administrators who have experience working with MySQL. Likewise, there’s an abundance of documentation in print and online on how to install and manage a MySQL database. This includes a number of third-party tools — such as </a:t>
            </a:r>
            <a:r>
              <a:rPr lang="en-US" sz="900" dirty="0" err="1"/>
              <a:t>phpMyAdmin</a:t>
            </a:r>
            <a:r>
              <a:rPr lang="en-US" sz="900" dirty="0"/>
              <a:t> — that aim to simplify the process of getting started with the database.</a:t>
            </a:r>
          </a:p>
          <a:p>
            <a:r>
              <a:rPr lang="en-US" sz="900" b="1" dirty="0"/>
              <a:t>Security</a:t>
            </a:r>
            <a:r>
              <a:rPr lang="en-US" sz="900" dirty="0"/>
              <a:t>: MySQL comes installed with a script that helps you to improve the security of your database by setting the installation’s password security level, defining a password for the root user, removing anonymous accounts, and removing test databases that are, by default, accessible to all users. Also, unlike SQLite, MySQL does support user management and allows you to grant access privileges on a user-by-user basis.</a:t>
            </a:r>
          </a:p>
          <a:p>
            <a:r>
              <a:rPr lang="en-US" sz="900" b="1" dirty="0"/>
              <a:t>Speed: </a:t>
            </a:r>
            <a:r>
              <a:rPr lang="en-US" sz="900" dirty="0"/>
              <a:t>By choosing not to implement certain features of SQL, the MySQL developers were able to prioritize speed. While more recent benchmark tests show that other RDBMSs like </a:t>
            </a:r>
            <a:r>
              <a:rPr lang="en-US" sz="900" dirty="0" err="1"/>
              <a:t>PostgreSQL</a:t>
            </a:r>
            <a:r>
              <a:rPr lang="en-US" sz="900" dirty="0"/>
              <a:t> can match or at least come close to MySQL in terms of speed, MySQL still holds a reputation as an exceedingly fast database solution.</a:t>
            </a:r>
          </a:p>
          <a:p>
            <a:r>
              <a:rPr lang="en-US" sz="900" b="1" dirty="0"/>
              <a:t>Replication:</a:t>
            </a:r>
            <a:r>
              <a:rPr lang="en-US" sz="900" dirty="0"/>
              <a:t> MySQL supports a number of different types of replication, which is the practice of sharing information across two or more hosts to help improve reliability, availability, and fault-tolerance. This is helpful for setting up a database backup solution or horizontally scaling one’s database.</a:t>
            </a:r>
          </a:p>
          <a:p>
            <a:endParaRPr lang="fr-FR" dirty="0"/>
          </a:p>
        </p:txBody>
      </p:sp>
      <p:sp>
        <p:nvSpPr>
          <p:cNvPr id="4" name="Espace réservé du numéro de diapositive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12</a:t>
            </a:fld>
            <a:endParaRPr lang="fr-FR"/>
          </a:p>
        </p:txBody>
      </p:sp>
    </p:spTree>
    <p:extLst>
      <p:ext uri="{BB962C8B-B14F-4D97-AF65-F5344CB8AC3E}">
        <p14:creationId xmlns:p14="http://schemas.microsoft.com/office/powerpoint/2010/main" val="8836789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67544" y="843558"/>
            <a:ext cx="2592288" cy="3327600"/>
          </a:xfrm>
        </p:spPr>
        <p:txBody>
          <a:bodyPr/>
          <a:lstStyle/>
          <a:p>
            <a:r>
              <a:rPr lang="fr-FR" sz="2450" dirty="0" err="1" smtClean="0"/>
              <a:t>Disadvantages</a:t>
            </a:r>
            <a:r>
              <a:rPr lang="fr-FR" sz="2450" dirty="0" smtClean="0"/>
              <a:t> </a:t>
            </a:r>
            <a:r>
              <a:rPr lang="fr-FR" sz="2450" dirty="0"/>
              <a:t>of MySQL</a:t>
            </a:r>
          </a:p>
        </p:txBody>
      </p:sp>
      <p:sp>
        <p:nvSpPr>
          <p:cNvPr id="6" name="Espace réservé du texte 5"/>
          <p:cNvSpPr>
            <a:spLocks noGrp="1"/>
          </p:cNvSpPr>
          <p:nvPr>
            <p:ph type="body" idx="1"/>
          </p:nvPr>
        </p:nvSpPr>
        <p:spPr>
          <a:xfrm>
            <a:off x="3203848" y="627534"/>
            <a:ext cx="5483077" cy="3941915"/>
          </a:xfrm>
        </p:spPr>
        <p:txBody>
          <a:bodyPr/>
          <a:lstStyle/>
          <a:p>
            <a:r>
              <a:rPr lang="en-US" sz="1200" b="1" dirty="0"/>
              <a:t>Known limitations: </a:t>
            </a:r>
            <a:r>
              <a:rPr lang="en-US" sz="1200" dirty="0"/>
              <a:t>Because MySQL was designed for speed and ease of use rather than full SQL compliance, it comes with certain functional limitations. For example, it lacks support for FULL JOIN clauses.</a:t>
            </a:r>
          </a:p>
          <a:p>
            <a:r>
              <a:rPr lang="en-US" sz="1200" b="1" dirty="0"/>
              <a:t>Licensing and proprietary features: </a:t>
            </a:r>
            <a:r>
              <a:rPr lang="en-US" sz="1200" dirty="0"/>
              <a:t>MySQL is dual-licensed software, with a free and open-source community edition licensed under GPLv2 and several paid commercial editions released under proprietary licenses. Because of this, some features and plugins are only available for the proprietary editions.</a:t>
            </a:r>
          </a:p>
          <a:p>
            <a:r>
              <a:rPr lang="en-US" sz="1200" b="1" dirty="0"/>
              <a:t>Slowed development: </a:t>
            </a:r>
            <a:r>
              <a:rPr lang="en-US" sz="1200" dirty="0"/>
              <a:t>Since the MySQL project was acquired by Sun Microsystems in 2008, and later by Oracle Corporation in 2009, there have been complaints from users that the development process for the DBMS has slowed down significantly, as the community no longer has the agency to quickly react to problems and implement changes.</a:t>
            </a:r>
            <a:endParaRPr lang="fr-FR" sz="1200" dirty="0"/>
          </a:p>
        </p:txBody>
      </p:sp>
      <p:sp>
        <p:nvSpPr>
          <p:cNvPr id="4" name="Espace réservé du numéro de diapositive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13</a:t>
            </a:fld>
            <a:endParaRPr lang="fr-FR"/>
          </a:p>
        </p:txBody>
      </p:sp>
    </p:spTree>
    <p:extLst>
      <p:ext uri="{BB962C8B-B14F-4D97-AF65-F5344CB8AC3E}">
        <p14:creationId xmlns:p14="http://schemas.microsoft.com/office/powerpoint/2010/main" val="3218705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539552" y="843558"/>
            <a:ext cx="2592288" cy="3327600"/>
          </a:xfrm>
        </p:spPr>
        <p:txBody>
          <a:bodyPr/>
          <a:lstStyle/>
          <a:p>
            <a:r>
              <a:rPr lang="fr-FR" sz="2450" dirty="0" err="1"/>
              <a:t>Advantages</a:t>
            </a:r>
            <a:r>
              <a:rPr lang="fr-FR" sz="2450" dirty="0"/>
              <a:t> of </a:t>
            </a:r>
            <a:r>
              <a:rPr lang="fr-FR" sz="2450" dirty="0" err="1"/>
              <a:t>PostgreSQL</a:t>
            </a:r>
            <a:endParaRPr lang="fr-FR" sz="2450" dirty="0"/>
          </a:p>
        </p:txBody>
      </p:sp>
      <p:sp>
        <p:nvSpPr>
          <p:cNvPr id="6" name="Espace réservé du texte 5"/>
          <p:cNvSpPr>
            <a:spLocks noGrp="1"/>
          </p:cNvSpPr>
          <p:nvPr>
            <p:ph type="body" idx="1"/>
          </p:nvPr>
        </p:nvSpPr>
        <p:spPr>
          <a:xfrm>
            <a:off x="3203848" y="627534"/>
            <a:ext cx="5483077" cy="3941915"/>
          </a:xfrm>
        </p:spPr>
        <p:txBody>
          <a:bodyPr/>
          <a:lstStyle/>
          <a:p>
            <a:r>
              <a:rPr lang="en-US" sz="1200" b="1" dirty="0"/>
              <a:t>SQL compliance: </a:t>
            </a:r>
            <a:r>
              <a:rPr lang="en-US" sz="1200" dirty="0"/>
              <a:t>More so than SQLite or MySQL, </a:t>
            </a:r>
            <a:r>
              <a:rPr lang="en-US" sz="1200" dirty="0" err="1"/>
              <a:t>PostgreSQL</a:t>
            </a:r>
            <a:r>
              <a:rPr lang="en-US" sz="1200" dirty="0"/>
              <a:t> aims to closely adhere to SQL standards. According to the official </a:t>
            </a:r>
            <a:r>
              <a:rPr lang="en-US" sz="1200" dirty="0" err="1"/>
              <a:t>PostgreSQL</a:t>
            </a:r>
            <a:r>
              <a:rPr lang="en-US" sz="1200" dirty="0"/>
              <a:t> documentation, </a:t>
            </a:r>
            <a:r>
              <a:rPr lang="en-US" sz="1200" dirty="0" err="1"/>
              <a:t>PostgreSQL</a:t>
            </a:r>
            <a:r>
              <a:rPr lang="en-US" sz="1200" dirty="0"/>
              <a:t> supports 160 out of the 179 features required for full core SQL:2011 compliance, in addition to a long list of optional features.</a:t>
            </a:r>
          </a:p>
          <a:p>
            <a:r>
              <a:rPr lang="en-US" sz="1200" b="1" dirty="0"/>
              <a:t>Open-source and community-driven: </a:t>
            </a:r>
            <a:r>
              <a:rPr lang="en-US" sz="1200" dirty="0"/>
              <a:t>A fully open-source project, </a:t>
            </a:r>
            <a:r>
              <a:rPr lang="en-US" sz="1200" dirty="0" err="1"/>
              <a:t>PostgreSQL’s</a:t>
            </a:r>
            <a:r>
              <a:rPr lang="en-US" sz="1200" dirty="0"/>
              <a:t> source code is developed by a large and devoted community. Similarly, the </a:t>
            </a:r>
            <a:r>
              <a:rPr lang="en-US" sz="1200" dirty="0" err="1"/>
              <a:t>Postgres</a:t>
            </a:r>
            <a:r>
              <a:rPr lang="en-US" sz="1200" dirty="0"/>
              <a:t> community maintains and contributes to numerous online resources that describe how to work with the DBMS, including the official documentation, the </a:t>
            </a:r>
            <a:r>
              <a:rPr lang="en-US" sz="1200" dirty="0" err="1"/>
              <a:t>PostgreSQL</a:t>
            </a:r>
            <a:r>
              <a:rPr lang="en-US" sz="1200" dirty="0"/>
              <a:t> wiki, and various online forums.</a:t>
            </a:r>
          </a:p>
          <a:p>
            <a:r>
              <a:rPr lang="en-US" sz="1200" b="1" dirty="0"/>
              <a:t>Extensible:</a:t>
            </a:r>
            <a:r>
              <a:rPr lang="en-US" sz="1200" dirty="0"/>
              <a:t> Users can extend </a:t>
            </a:r>
            <a:r>
              <a:rPr lang="en-US" sz="1200" dirty="0" err="1"/>
              <a:t>PostgreSQL</a:t>
            </a:r>
            <a:r>
              <a:rPr lang="en-US" sz="1200" dirty="0"/>
              <a:t> programmatically and on the fly through its catalog-driven operation and its use of dynamic loading. One can designate an object code file, such as a shared library, and </a:t>
            </a:r>
            <a:r>
              <a:rPr lang="en-US" sz="1200" dirty="0" err="1"/>
              <a:t>PostgreSQL</a:t>
            </a:r>
            <a:r>
              <a:rPr lang="en-US" sz="1200" dirty="0"/>
              <a:t> will load it as necessary.</a:t>
            </a:r>
          </a:p>
        </p:txBody>
      </p:sp>
      <p:sp>
        <p:nvSpPr>
          <p:cNvPr id="4" name="Espace réservé du numéro de diapositive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14</a:t>
            </a:fld>
            <a:endParaRPr lang="fr-FR"/>
          </a:p>
        </p:txBody>
      </p:sp>
    </p:spTree>
    <p:extLst>
      <p:ext uri="{BB962C8B-B14F-4D97-AF65-F5344CB8AC3E}">
        <p14:creationId xmlns:p14="http://schemas.microsoft.com/office/powerpoint/2010/main" val="14522921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67544" y="843558"/>
            <a:ext cx="2592288" cy="3327600"/>
          </a:xfrm>
        </p:spPr>
        <p:txBody>
          <a:bodyPr/>
          <a:lstStyle/>
          <a:p>
            <a:r>
              <a:rPr lang="fr-FR" sz="2450" dirty="0" err="1"/>
              <a:t>Disadvantages</a:t>
            </a:r>
            <a:r>
              <a:rPr lang="fr-FR" sz="2450" dirty="0"/>
              <a:t> of </a:t>
            </a:r>
            <a:r>
              <a:rPr lang="fr-FR" sz="2450" dirty="0" err="1"/>
              <a:t>PostgreSQL</a:t>
            </a:r>
            <a:endParaRPr lang="fr-FR" sz="2450" dirty="0"/>
          </a:p>
        </p:txBody>
      </p:sp>
      <p:sp>
        <p:nvSpPr>
          <p:cNvPr id="6" name="Espace réservé du texte 5"/>
          <p:cNvSpPr>
            <a:spLocks noGrp="1"/>
          </p:cNvSpPr>
          <p:nvPr>
            <p:ph type="body" idx="1"/>
          </p:nvPr>
        </p:nvSpPr>
        <p:spPr>
          <a:xfrm>
            <a:off x="3203848" y="627534"/>
            <a:ext cx="5483077" cy="3941915"/>
          </a:xfrm>
        </p:spPr>
        <p:txBody>
          <a:bodyPr/>
          <a:lstStyle/>
          <a:p>
            <a:r>
              <a:rPr lang="en-US" sz="1200" b="1" dirty="0"/>
              <a:t>Memory performance: </a:t>
            </a:r>
            <a:r>
              <a:rPr lang="en-US" sz="1200" dirty="0"/>
              <a:t>For every new client connection, </a:t>
            </a:r>
            <a:r>
              <a:rPr lang="en-US" sz="1200" dirty="0" err="1"/>
              <a:t>PostgreSQL</a:t>
            </a:r>
            <a:r>
              <a:rPr lang="en-US" sz="1200" dirty="0"/>
              <a:t> forks a new process. Each new process is allocated about 10MB of memory, which can add up quickly for databases with lots of connections. Accordingly, for simple read-heavy operations, </a:t>
            </a:r>
            <a:r>
              <a:rPr lang="en-US" sz="1200" dirty="0" err="1"/>
              <a:t>PostgreSQL</a:t>
            </a:r>
            <a:r>
              <a:rPr lang="en-US" sz="1200" dirty="0"/>
              <a:t> is typically less </a:t>
            </a:r>
            <a:r>
              <a:rPr lang="en-US" sz="1200" dirty="0" err="1"/>
              <a:t>performant</a:t>
            </a:r>
            <a:r>
              <a:rPr lang="en-US" sz="1200" dirty="0"/>
              <a:t> than other RDBMSs, like MySQL.</a:t>
            </a:r>
          </a:p>
          <a:p>
            <a:r>
              <a:rPr lang="en-US" sz="1200" b="1" dirty="0"/>
              <a:t>Popularity: </a:t>
            </a:r>
            <a:r>
              <a:rPr lang="en-US" sz="1200" dirty="0"/>
              <a:t>Although more widely used in recent years, </a:t>
            </a:r>
            <a:r>
              <a:rPr lang="en-US" sz="1200" dirty="0" err="1"/>
              <a:t>PostgreSQL</a:t>
            </a:r>
            <a:r>
              <a:rPr lang="en-US" sz="1200" dirty="0"/>
              <a:t> has historically lagged behind MySQL in terms of popularity. One consequence of this is that there are still fewer third-party tools that can help manage a </a:t>
            </a:r>
            <a:r>
              <a:rPr lang="en-US" sz="1200" dirty="0" err="1"/>
              <a:t>PostgreSQL</a:t>
            </a:r>
            <a:r>
              <a:rPr lang="en-US" sz="1200" dirty="0"/>
              <a:t> database. Similarly, there aren’t as many database administrators with experience managing a </a:t>
            </a:r>
            <a:r>
              <a:rPr lang="en-US" sz="1200" dirty="0" err="1"/>
              <a:t>Postgres</a:t>
            </a:r>
            <a:r>
              <a:rPr lang="en-US" sz="1200" dirty="0"/>
              <a:t> database compared to those with MySQL experience.</a:t>
            </a:r>
            <a:endParaRPr lang="fr-FR" sz="1200" dirty="0"/>
          </a:p>
        </p:txBody>
      </p:sp>
      <p:sp>
        <p:nvSpPr>
          <p:cNvPr id="4" name="Espace réservé du numéro de diapositive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15</a:t>
            </a:fld>
            <a:endParaRPr lang="fr-FR"/>
          </a:p>
        </p:txBody>
      </p:sp>
    </p:spTree>
    <p:extLst>
      <p:ext uri="{BB962C8B-B14F-4D97-AF65-F5344CB8AC3E}">
        <p14:creationId xmlns:p14="http://schemas.microsoft.com/office/powerpoint/2010/main" val="14522921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67544" y="843558"/>
            <a:ext cx="2592288" cy="3327600"/>
          </a:xfrm>
        </p:spPr>
        <p:txBody>
          <a:bodyPr/>
          <a:lstStyle/>
          <a:p>
            <a:r>
              <a:rPr lang="fr-FR" sz="2450" dirty="0" err="1"/>
              <a:t>Disadvantages</a:t>
            </a:r>
            <a:r>
              <a:rPr lang="fr-FR" sz="2450" dirty="0"/>
              <a:t> of </a:t>
            </a:r>
            <a:r>
              <a:rPr lang="fr-FR" sz="2450" dirty="0" err="1"/>
              <a:t>PostgreSQL</a:t>
            </a:r>
            <a:endParaRPr lang="fr-FR" sz="2450" dirty="0"/>
          </a:p>
        </p:txBody>
      </p:sp>
      <p:sp>
        <p:nvSpPr>
          <p:cNvPr id="6" name="Espace réservé du texte 5"/>
          <p:cNvSpPr>
            <a:spLocks noGrp="1"/>
          </p:cNvSpPr>
          <p:nvPr>
            <p:ph type="body" idx="1"/>
          </p:nvPr>
        </p:nvSpPr>
        <p:spPr>
          <a:xfrm>
            <a:off x="3203848" y="627534"/>
            <a:ext cx="5483077" cy="3941915"/>
          </a:xfrm>
        </p:spPr>
        <p:txBody>
          <a:bodyPr/>
          <a:lstStyle/>
          <a:p>
            <a:r>
              <a:rPr lang="en-US" sz="1200" b="1" dirty="0"/>
              <a:t>Memory performance: </a:t>
            </a:r>
            <a:r>
              <a:rPr lang="en-US" sz="1200" dirty="0"/>
              <a:t>For every new client connection, </a:t>
            </a:r>
            <a:r>
              <a:rPr lang="en-US" sz="1200" dirty="0" err="1"/>
              <a:t>PostgreSQL</a:t>
            </a:r>
            <a:r>
              <a:rPr lang="en-US" sz="1200" dirty="0"/>
              <a:t> forks a new process. Each new process is allocated about 10MB of memory, which can add up quickly for databases with lots of connections. Accordingly, for simple read-heavy operations, </a:t>
            </a:r>
            <a:r>
              <a:rPr lang="en-US" sz="1200" dirty="0" err="1"/>
              <a:t>PostgreSQL</a:t>
            </a:r>
            <a:r>
              <a:rPr lang="en-US" sz="1200" dirty="0"/>
              <a:t> is typically less </a:t>
            </a:r>
            <a:r>
              <a:rPr lang="en-US" sz="1200" dirty="0" err="1"/>
              <a:t>performant</a:t>
            </a:r>
            <a:r>
              <a:rPr lang="en-US" sz="1200" dirty="0"/>
              <a:t> than other RDBMSs, like MySQL.</a:t>
            </a:r>
          </a:p>
          <a:p>
            <a:r>
              <a:rPr lang="en-US" sz="1200" b="1" dirty="0"/>
              <a:t>Popularity: </a:t>
            </a:r>
            <a:r>
              <a:rPr lang="en-US" sz="1200" dirty="0"/>
              <a:t>Although more widely used in recent years, </a:t>
            </a:r>
            <a:r>
              <a:rPr lang="en-US" sz="1200" dirty="0" err="1"/>
              <a:t>PostgreSQL</a:t>
            </a:r>
            <a:r>
              <a:rPr lang="en-US" sz="1200" dirty="0"/>
              <a:t> has historically lagged behind MySQL in terms of popularity. One consequence of this is that there are still fewer third-party tools that can help manage a </a:t>
            </a:r>
            <a:r>
              <a:rPr lang="en-US" sz="1200" dirty="0" err="1"/>
              <a:t>PostgreSQL</a:t>
            </a:r>
            <a:r>
              <a:rPr lang="en-US" sz="1200" dirty="0"/>
              <a:t> database. Similarly, there aren’t as many database administrators with experience managing a </a:t>
            </a:r>
            <a:r>
              <a:rPr lang="en-US" sz="1200" dirty="0" err="1"/>
              <a:t>Postgres</a:t>
            </a:r>
            <a:r>
              <a:rPr lang="en-US" sz="1200" dirty="0"/>
              <a:t> database compared to those with MySQL experience.</a:t>
            </a:r>
            <a:endParaRPr lang="fr-FR" sz="1200" dirty="0"/>
          </a:p>
        </p:txBody>
      </p:sp>
      <p:sp>
        <p:nvSpPr>
          <p:cNvPr id="4" name="Espace réservé du numéro de diapositive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16</a:t>
            </a:fld>
            <a:endParaRPr lang="fr-FR"/>
          </a:p>
        </p:txBody>
      </p:sp>
    </p:spTree>
    <p:extLst>
      <p:ext uri="{BB962C8B-B14F-4D97-AF65-F5344CB8AC3E}">
        <p14:creationId xmlns:p14="http://schemas.microsoft.com/office/powerpoint/2010/main" val="26632516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67544" y="843558"/>
            <a:ext cx="2592288" cy="3327600"/>
          </a:xfrm>
        </p:spPr>
        <p:txBody>
          <a:bodyPr/>
          <a:lstStyle/>
          <a:p>
            <a:r>
              <a:rPr lang="fr-FR" sz="2450" dirty="0" err="1" smtClean="0"/>
              <a:t>Advantages</a:t>
            </a:r>
            <a:r>
              <a:rPr lang="fr-FR" sz="2450" dirty="0" smtClean="0"/>
              <a:t> of </a:t>
            </a:r>
            <a:r>
              <a:rPr lang="fr-FR" sz="2450" dirty="0"/>
              <a:t>SQL SERVER</a:t>
            </a:r>
          </a:p>
        </p:txBody>
      </p:sp>
      <p:sp>
        <p:nvSpPr>
          <p:cNvPr id="6" name="Espace réservé du texte 5"/>
          <p:cNvSpPr>
            <a:spLocks noGrp="1"/>
          </p:cNvSpPr>
          <p:nvPr>
            <p:ph type="body" idx="1"/>
          </p:nvPr>
        </p:nvSpPr>
        <p:spPr>
          <a:xfrm>
            <a:off x="3203848" y="627534"/>
            <a:ext cx="5483077" cy="3941915"/>
          </a:xfrm>
        </p:spPr>
        <p:txBody>
          <a:bodyPr/>
          <a:lstStyle/>
          <a:p>
            <a:pPr>
              <a:buFont typeface="Arial" pitchFamily="34" charset="0"/>
              <a:buChar char="•"/>
            </a:pPr>
            <a:r>
              <a:rPr lang="en-US" sz="1200" b="1" dirty="0" smtClean="0"/>
              <a:t>*Easy </a:t>
            </a:r>
            <a:r>
              <a:rPr lang="en-US" sz="1200" b="1" dirty="0"/>
              <a:t>to Install</a:t>
            </a:r>
          </a:p>
          <a:p>
            <a:r>
              <a:rPr lang="en-US" sz="1200" b="1" dirty="0" smtClean="0"/>
              <a:t>*Enhanced </a:t>
            </a:r>
            <a:r>
              <a:rPr lang="en-US" sz="1200" b="1" dirty="0"/>
              <a:t>Performance</a:t>
            </a:r>
          </a:p>
          <a:p>
            <a:r>
              <a:rPr lang="en-US" sz="1200" b="1" dirty="0" smtClean="0"/>
              <a:t>*Several </a:t>
            </a:r>
            <a:r>
              <a:rPr lang="en-US" sz="1200" b="1" dirty="0"/>
              <a:t>SQL Server Editions</a:t>
            </a:r>
          </a:p>
          <a:p>
            <a:r>
              <a:rPr lang="en-US" sz="1200" b="1" dirty="0" smtClean="0"/>
              <a:t>*Highly </a:t>
            </a:r>
            <a:r>
              <a:rPr lang="en-US" sz="1200" b="1" dirty="0"/>
              <a:t>Secure</a:t>
            </a:r>
          </a:p>
          <a:p>
            <a:r>
              <a:rPr lang="en-US" sz="1200" b="1" dirty="0" smtClean="0"/>
              <a:t>*Excellent </a:t>
            </a:r>
            <a:r>
              <a:rPr lang="en-US" sz="1200" b="1" dirty="0"/>
              <a:t>Data Restoration and Recovery Mechanism</a:t>
            </a:r>
          </a:p>
          <a:p>
            <a:r>
              <a:rPr lang="en-US" sz="1200" b="1" dirty="0" smtClean="0"/>
              <a:t>*Lower </a:t>
            </a:r>
            <a:r>
              <a:rPr lang="en-US" sz="1200" b="1" dirty="0"/>
              <a:t>Cost Of Ownership</a:t>
            </a:r>
            <a:endParaRPr lang="fr-FR" sz="1200" dirty="0"/>
          </a:p>
        </p:txBody>
      </p:sp>
      <p:sp>
        <p:nvSpPr>
          <p:cNvPr id="4" name="Espace réservé du numéro de diapositive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17</a:t>
            </a:fld>
            <a:endParaRPr lang="fr-FR"/>
          </a:p>
        </p:txBody>
      </p:sp>
    </p:spTree>
    <p:extLst>
      <p:ext uri="{BB962C8B-B14F-4D97-AF65-F5344CB8AC3E}">
        <p14:creationId xmlns:p14="http://schemas.microsoft.com/office/powerpoint/2010/main" val="26632516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p:cNvSpPr>
            <a:spLocks noGrp="1"/>
          </p:cNvSpPr>
          <p:nvPr>
            <p:ph type="body" idx="1"/>
          </p:nvPr>
        </p:nvSpPr>
        <p:spPr>
          <a:xfrm>
            <a:off x="395536" y="627534"/>
            <a:ext cx="8229600" cy="393600"/>
          </a:xfrm>
        </p:spPr>
        <p:txBody>
          <a:bodyPr/>
          <a:lstStyle/>
          <a:p>
            <a:r>
              <a:rPr lang="fr-FR" sz="2400" b="1" dirty="0" err="1" smtClean="0"/>
              <a:t>Thanks</a:t>
            </a:r>
            <a:endParaRPr lang="fr-FR" sz="2400" b="1" dirty="0"/>
          </a:p>
        </p:txBody>
      </p:sp>
      <p:sp>
        <p:nvSpPr>
          <p:cNvPr id="3" name="Espace réservé du numéro de diapositive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fr-FR" smtClean="0"/>
              <a:t>18</a:t>
            </a:fld>
            <a:endParaRPr lang="fr-FR"/>
          </a:p>
        </p:txBody>
      </p:sp>
      <p:pic>
        <p:nvPicPr>
          <p:cNvPr id="2050" name="Picture 2" descr="Épinglé sur Edu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1257715"/>
            <a:ext cx="3888432" cy="3253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9993872"/>
      </p:ext>
    </p:extLst>
  </p:cSld>
  <p:clrMapOvr>
    <a:masterClrMapping/>
  </p:clrMapOvr>
  <p:timing>
    <p:tnLst>
      <p:par>
        <p:cTn id="1" dur="indefinite" restart="never" nodeType="tmRoot"/>
      </p:par>
    </p:tnLst>
  </p:timing>
</p:sld>
</file>

<file path=ppt/theme/theme1.xml><?xml version="1.0" encoding="utf-8"?>
<a:theme xmlns:a="http://schemas.openxmlformats.org/drawingml/2006/main" name="Juliet template">
  <a:themeElements>
    <a:clrScheme name="Custom 347">
      <a:dk1>
        <a:srgbClr val="666666"/>
      </a:dk1>
      <a:lt1>
        <a:srgbClr val="FFFFFF"/>
      </a:lt1>
      <a:dk2>
        <a:srgbClr val="B7B7B7"/>
      </a:dk2>
      <a:lt2>
        <a:srgbClr val="E4E4E4"/>
      </a:lt2>
      <a:accent1>
        <a:srgbClr val="5C91E6"/>
      </a:accent1>
      <a:accent2>
        <a:srgbClr val="4CD5D5"/>
      </a:accent2>
      <a:accent3>
        <a:srgbClr val="7A6DDD"/>
      </a:accent3>
      <a:accent4>
        <a:srgbClr val="EC59B6"/>
      </a:accent4>
      <a:accent5>
        <a:srgbClr val="F79E3A"/>
      </a:accent5>
      <a:accent6>
        <a:srgbClr val="EEDC14"/>
      </a:accent6>
      <a:hlink>
        <a:srgbClr val="666666"/>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1529</Words>
  <Application>Microsoft Office PowerPoint</Application>
  <PresentationFormat>Affichage à l'écran (16:9)</PresentationFormat>
  <Paragraphs>96</Paragraphs>
  <Slides>18</Slides>
  <Notes>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Arial</vt:lpstr>
      <vt:lpstr>Modern No. 20</vt:lpstr>
      <vt:lpstr>Montserrat</vt:lpstr>
      <vt:lpstr>Montserrat Light</vt:lpstr>
      <vt:lpstr>Montserrat ExtraBold</vt:lpstr>
      <vt:lpstr>Juliet template</vt:lpstr>
      <vt:lpstr>Checkpoint Introduction to Databases</vt:lpstr>
      <vt:lpstr>PLan</vt:lpstr>
      <vt:lpstr>What is a Database?</vt:lpstr>
      <vt:lpstr>What is a Relational Database?</vt:lpstr>
      <vt:lpstr>What is a Relational Database Management System? </vt:lpstr>
      <vt:lpstr>Présentation PowerPoint</vt:lpstr>
      <vt:lpstr>What is a Relational Database Management System (RDBMS)?</vt:lpstr>
      <vt:lpstr>What is SQL?</vt:lpstr>
      <vt:lpstr>MySQL</vt:lpstr>
      <vt:lpstr>PostgreSQL</vt:lpstr>
      <vt:lpstr>SQL Server</vt:lpstr>
      <vt:lpstr>Advantages of MySQL</vt:lpstr>
      <vt:lpstr>Disadvantages of MySQL</vt:lpstr>
      <vt:lpstr>Advantages of PostgreSQL</vt:lpstr>
      <vt:lpstr>Disadvantages of PostgreSQL</vt:lpstr>
      <vt:lpstr>Disadvantages of PostgreSQL</vt:lpstr>
      <vt:lpstr>Advantages of SQL SERVER</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Checkpoint Introduction to Databases Checkpoint</dc:title>
  <dc:creator>otakuishere</dc:creator>
  <cp:lastModifiedBy>otakuishere</cp:lastModifiedBy>
  <cp:revision>9</cp:revision>
  <dcterms:modified xsi:type="dcterms:W3CDTF">2022-04-15T01:28:11Z</dcterms:modified>
</cp:coreProperties>
</file>